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61" r:id="rId4"/>
    <p:sldId id="272" r:id="rId5"/>
    <p:sldId id="273" r:id="rId6"/>
    <p:sldId id="271" r:id="rId7"/>
    <p:sldId id="258" r:id="rId8"/>
    <p:sldId id="263" r:id="rId9"/>
    <p:sldId id="260" r:id="rId10"/>
    <p:sldId id="277" r:id="rId11"/>
    <p:sldId id="262" r:id="rId12"/>
    <p:sldId id="274" r:id="rId13"/>
    <p:sldId id="264" r:id="rId14"/>
    <p:sldId id="265" r:id="rId15"/>
    <p:sldId id="266" r:id="rId16"/>
    <p:sldId id="267" r:id="rId17"/>
    <p:sldId id="268" r:id="rId18"/>
    <p:sldId id="275" r:id="rId19"/>
    <p:sldId id="269" r:id="rId20"/>
    <p:sldId id="270"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5D93"/>
    <a:srgbClr val="D8E301"/>
    <a:srgbClr val="C34E56"/>
    <a:srgbClr val="8CB65D"/>
    <a:srgbClr val="599795"/>
    <a:srgbClr val="0015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201" autoAdjust="0"/>
    <p:restoredTop sz="78151" autoAdjust="0"/>
  </p:normalViewPr>
  <p:slideViewPr>
    <p:cSldViewPr snapToGrid="0" showGuides="1">
      <p:cViewPr varScale="1">
        <p:scale>
          <a:sx n="61" d="100"/>
          <a:sy n="61" d="100"/>
        </p:scale>
        <p:origin x="821" y="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F18783-81CF-438C-A241-3630B1A77772}" type="datetimeFigureOut">
              <a:rPr lang="en-GB" smtClean="0"/>
              <a:t>12/09/2024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497FD-4BB8-4933-A7AC-0A33F9B9929E}" type="slidenum">
              <a:rPr lang="en-GB" smtClean="0"/>
              <a:t>‹#›</a:t>
            </a:fld>
            <a:endParaRPr lang="en-GB"/>
          </a:p>
        </p:txBody>
      </p:sp>
    </p:spTree>
    <p:extLst>
      <p:ext uri="{BB962C8B-B14F-4D97-AF65-F5344CB8AC3E}">
        <p14:creationId xmlns:p14="http://schemas.microsoft.com/office/powerpoint/2010/main" val="3216951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3</a:t>
            </a:fld>
            <a:endParaRPr lang="en-GB"/>
          </a:p>
        </p:txBody>
      </p:sp>
    </p:spTree>
    <p:extLst>
      <p:ext uri="{BB962C8B-B14F-4D97-AF65-F5344CB8AC3E}">
        <p14:creationId xmlns:p14="http://schemas.microsoft.com/office/powerpoint/2010/main" val="1877695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4</a:t>
            </a:fld>
            <a:endParaRPr lang="en-GB"/>
          </a:p>
        </p:txBody>
      </p:sp>
    </p:spTree>
    <p:extLst>
      <p:ext uri="{BB962C8B-B14F-4D97-AF65-F5344CB8AC3E}">
        <p14:creationId xmlns:p14="http://schemas.microsoft.com/office/powerpoint/2010/main" val="8684117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5</a:t>
            </a:fld>
            <a:endParaRPr lang="en-GB"/>
          </a:p>
        </p:txBody>
      </p:sp>
    </p:spTree>
    <p:extLst>
      <p:ext uri="{BB962C8B-B14F-4D97-AF65-F5344CB8AC3E}">
        <p14:creationId xmlns:p14="http://schemas.microsoft.com/office/powerpoint/2010/main" val="29546136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6</a:t>
            </a:fld>
            <a:endParaRPr lang="en-GB"/>
          </a:p>
        </p:txBody>
      </p:sp>
    </p:spTree>
    <p:extLst>
      <p:ext uri="{BB962C8B-B14F-4D97-AF65-F5344CB8AC3E}">
        <p14:creationId xmlns:p14="http://schemas.microsoft.com/office/powerpoint/2010/main" val="2648983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7</a:t>
            </a:fld>
            <a:endParaRPr lang="en-GB"/>
          </a:p>
        </p:txBody>
      </p:sp>
    </p:spTree>
    <p:extLst>
      <p:ext uri="{BB962C8B-B14F-4D97-AF65-F5344CB8AC3E}">
        <p14:creationId xmlns:p14="http://schemas.microsoft.com/office/powerpoint/2010/main" val="1546181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https://www.menti.com/aljuiyfxhc6h</a:t>
            </a:r>
          </a:p>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9</a:t>
            </a:fld>
            <a:endParaRPr lang="en-GB"/>
          </a:p>
        </p:txBody>
      </p:sp>
    </p:spTree>
    <p:extLst>
      <p:ext uri="{BB962C8B-B14F-4D97-AF65-F5344CB8AC3E}">
        <p14:creationId xmlns:p14="http://schemas.microsoft.com/office/powerpoint/2010/main" val="1534659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I mentioned earlier in regard to student engagement, motivation is one of the primary factors that influences your personal engagement with your studies. It is important because it gives you the desire to  learn. It’s a factor in outcomes such as coursework and exams, and it usually indicates that you recognise that learning is a lifelong endeavour.  This is critical within your course as elements will knit together across blocks of study, throughout assessments and onwards into your future. Nothing you learn will sit in isolation!!</a:t>
            </a:r>
          </a:p>
        </p:txBody>
      </p:sp>
      <p:sp>
        <p:nvSpPr>
          <p:cNvPr id="4" name="Slide Number Placeholder 3"/>
          <p:cNvSpPr>
            <a:spLocks noGrp="1"/>
          </p:cNvSpPr>
          <p:nvPr>
            <p:ph type="sldNum" sz="quarter" idx="5"/>
          </p:nvPr>
        </p:nvSpPr>
        <p:spPr/>
        <p:txBody>
          <a:bodyPr/>
          <a:lstStyle/>
          <a:p>
            <a:fld id="{9F8497FD-4BB8-4933-A7AC-0A33F9B9929E}" type="slidenum">
              <a:rPr lang="en-GB" smtClean="0"/>
              <a:t>11</a:t>
            </a:fld>
            <a:endParaRPr lang="en-GB"/>
          </a:p>
        </p:txBody>
      </p:sp>
    </p:spTree>
    <p:extLst>
      <p:ext uri="{BB962C8B-B14F-4D97-AF65-F5344CB8AC3E}">
        <p14:creationId xmlns:p14="http://schemas.microsoft.com/office/powerpoint/2010/main" val="2407750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13</a:t>
            </a:fld>
            <a:endParaRPr lang="en-GB"/>
          </a:p>
        </p:txBody>
      </p:sp>
    </p:spTree>
    <p:extLst>
      <p:ext uri="{BB962C8B-B14F-4D97-AF65-F5344CB8AC3E}">
        <p14:creationId xmlns:p14="http://schemas.microsoft.com/office/powerpoint/2010/main" val="85077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14</a:t>
            </a:fld>
            <a:endParaRPr lang="en-GB"/>
          </a:p>
        </p:txBody>
      </p:sp>
    </p:spTree>
    <p:extLst>
      <p:ext uri="{BB962C8B-B14F-4D97-AF65-F5344CB8AC3E}">
        <p14:creationId xmlns:p14="http://schemas.microsoft.com/office/powerpoint/2010/main" val="218014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15</a:t>
            </a:fld>
            <a:endParaRPr lang="en-GB"/>
          </a:p>
        </p:txBody>
      </p:sp>
    </p:spTree>
    <p:extLst>
      <p:ext uri="{BB962C8B-B14F-4D97-AF65-F5344CB8AC3E}">
        <p14:creationId xmlns:p14="http://schemas.microsoft.com/office/powerpoint/2010/main" val="3989414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16</a:t>
            </a:fld>
            <a:endParaRPr lang="en-GB"/>
          </a:p>
        </p:txBody>
      </p:sp>
    </p:spTree>
    <p:extLst>
      <p:ext uri="{BB962C8B-B14F-4D97-AF65-F5344CB8AC3E}">
        <p14:creationId xmlns:p14="http://schemas.microsoft.com/office/powerpoint/2010/main" val="3494029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17</a:t>
            </a:fld>
            <a:endParaRPr lang="en-GB"/>
          </a:p>
        </p:txBody>
      </p:sp>
    </p:spTree>
    <p:extLst>
      <p:ext uri="{BB962C8B-B14F-4D97-AF65-F5344CB8AC3E}">
        <p14:creationId xmlns:p14="http://schemas.microsoft.com/office/powerpoint/2010/main" val="3434075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F8497FD-4BB8-4933-A7AC-0A33F9B9929E}" type="slidenum">
              <a:rPr lang="en-GB" smtClean="0"/>
              <a:t>19</a:t>
            </a:fld>
            <a:endParaRPr lang="en-GB"/>
          </a:p>
        </p:txBody>
      </p:sp>
    </p:spTree>
    <p:extLst>
      <p:ext uri="{BB962C8B-B14F-4D97-AF65-F5344CB8AC3E}">
        <p14:creationId xmlns:p14="http://schemas.microsoft.com/office/powerpoint/2010/main" val="3121584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D5537-5F1A-479C-9DAF-5D26771C11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571076-CB22-4E93-B16C-E3F474FF14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2029B9-4319-457D-8117-59EE82A7CDB9}"/>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F9E4845B-E394-42A2-A0B9-54D2F3FA19C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12AF69-7D41-4FC6-8F1B-0FA0503372A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728573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CD29B-60A6-41FC-9B69-DEEB4F66C68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F128B9-16FF-4677-8C01-2131C4E4D09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169426E-6336-461F-B428-428F93A323C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AF0F82FD-6DAC-445B-94D9-1033044508F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D38F2C-F143-4531-8A48-7291101ACDFC}"/>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751736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3755B-C392-4EFE-A6E5-B209F232A3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E300864-4B87-4F09-8EA6-741AEE57AC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943268-49F7-4A94-9B9F-F7652D056E8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25BD7C3C-F870-472E-B948-680654360D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5D4DC7-D1C0-47C4-8F1A-0B1D8E882455}"/>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885148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069AF-4306-4CA7-8CFE-7AEF93AD6CA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771848-EA7A-4A33-88EF-4074903ED5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59ECFB1-01AE-4F4B-9BF6-BDB2C0CAA92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DC52744-AFCA-4EB3-AE7C-CB5A87210993}"/>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14054DE6-BFA5-4811-B374-97D5D6971F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FC485A-5064-4EF9-96E2-0ED087184BC1}"/>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300336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97F59-3735-406F-B0A5-D15F598EEB3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E3D6AF-DD29-4E32-B453-532D6E936B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C48E5A7-5AEC-429C-A55F-40FB2C44F69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FF019B6-E0EF-4760-8304-C4FFE466F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691E6B2-25CE-4F62-B6D0-BD88CE0DC0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DA1B5F9-6195-481C-B749-4DD893DF0755}"/>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8" name="Footer Placeholder 7">
            <a:extLst>
              <a:ext uri="{FF2B5EF4-FFF2-40B4-BE49-F238E27FC236}">
                <a16:creationId xmlns:a16="http://schemas.microsoft.com/office/drawing/2014/main" id="{82CF18D3-859B-4CA7-BD40-24862C74E0E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4480F71-4C20-46ED-883E-FBD706B223F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7816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E392-AF96-459B-A2F0-0331354A1E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4A8F4F-7EA6-451E-8F2D-9688EBE48647}"/>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4" name="Footer Placeholder 3">
            <a:extLst>
              <a:ext uri="{FF2B5EF4-FFF2-40B4-BE49-F238E27FC236}">
                <a16:creationId xmlns:a16="http://schemas.microsoft.com/office/drawing/2014/main" id="{626F7048-B2F5-47C6-9290-670BB4EDA64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8E2503C-08C1-4F35-8B5E-8A6FD51C55E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1763424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FFA664-B2E2-4E3F-B9FF-AF0A8BD5CE85}"/>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3" name="Footer Placeholder 2">
            <a:extLst>
              <a:ext uri="{FF2B5EF4-FFF2-40B4-BE49-F238E27FC236}">
                <a16:creationId xmlns:a16="http://schemas.microsoft.com/office/drawing/2014/main" id="{172688A5-4769-48DC-85F4-CFCACD29684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8046938-E553-4488-9D47-D981BCC019E2}"/>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67910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5CC9-E4E1-480A-BD64-955BEB5E8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E06326E-D8CE-48E2-8F51-88F4A6F5D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F94BA95-FE95-4057-B943-DE8DBE09A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30818E9-037A-48D2-B791-6CF085AB645A}"/>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49A8AA0A-35C2-4D87-84ED-60EB6F81370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B579A6C-E418-401D-B6A8-19BDEB685CF3}"/>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198933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FECCE-8DA4-4FEE-90EE-8486843A7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2E22CEC-EAFD-4A61-A009-66EF2C594C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CAA07B0-EA7B-4D81-B112-BE384CB59F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290193B-D324-43AC-B092-CF18C9F14EF4}"/>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6" name="Footer Placeholder 5">
            <a:extLst>
              <a:ext uri="{FF2B5EF4-FFF2-40B4-BE49-F238E27FC236}">
                <a16:creationId xmlns:a16="http://schemas.microsoft.com/office/drawing/2014/main" id="{584DB412-EB77-4CC2-9F68-4E657DD777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A8B7A7-109C-4003-8E40-5288756336C1}"/>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30991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12B7-8784-42F8-B3D9-548FAA070D4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B7EB06D-FBF0-4141-876E-9F36D940BA7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420BD2-E89F-468D-AAB9-631D43000976}"/>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3F10A3E5-64B6-4931-B9EF-1CF8769972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F57C144-07BC-4CD1-8F73-5E2EEFD832F8}"/>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738576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F3443-076B-4F77-8932-C0D7AABB383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C109F8-E9AB-4F52-83A1-989308CE14C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0708F4-ECE7-4741-94B2-9FBF9AEDD620}"/>
              </a:ext>
            </a:extLst>
          </p:cNvPr>
          <p:cNvSpPr>
            <a:spLocks noGrp="1"/>
          </p:cNvSpPr>
          <p:nvPr>
            <p:ph type="dt" sz="half" idx="10"/>
          </p:nvPr>
        </p:nvSpPr>
        <p:spPr/>
        <p:txBody>
          <a:body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7A1B8DF0-D613-443A-88EB-3D971E694D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F36B2F-1503-4511-9E35-9A1CF9072B8A}"/>
              </a:ext>
            </a:extLst>
          </p:cNvPr>
          <p:cNvSpPr>
            <a:spLocks noGrp="1"/>
          </p:cNvSpPr>
          <p:nvPr>
            <p:ph type="sldNum" sz="quarter" idx="12"/>
          </p:nvPr>
        </p:nvSpPr>
        <p:spPr/>
        <p:txBody>
          <a:bodyPr/>
          <a:lstStyle/>
          <a:p>
            <a:fld id="{5595D00E-7376-49EC-B215-91493CB406BF}" type="slidenum">
              <a:rPr lang="en-GB" smtClean="0"/>
              <a:t>‹#›</a:t>
            </a:fld>
            <a:endParaRPr lang="en-GB"/>
          </a:p>
        </p:txBody>
      </p:sp>
    </p:spTree>
    <p:extLst>
      <p:ext uri="{BB962C8B-B14F-4D97-AF65-F5344CB8AC3E}">
        <p14:creationId xmlns:p14="http://schemas.microsoft.com/office/powerpoint/2010/main" val="232439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07114-8579-4949-90F0-C1D743D139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7EE4FD9-7073-487E-96A5-1FB03E6868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4041DC-486C-4335-9371-BDBFC25BA7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F8C0DC-7841-48EE-8272-2E71B8950332}" type="datetimeFigureOut">
              <a:rPr lang="en-GB" smtClean="0"/>
              <a:t>12/09/2024</a:t>
            </a:fld>
            <a:endParaRPr lang="en-GB"/>
          </a:p>
        </p:txBody>
      </p:sp>
      <p:sp>
        <p:nvSpPr>
          <p:cNvPr id="5" name="Footer Placeholder 4">
            <a:extLst>
              <a:ext uri="{FF2B5EF4-FFF2-40B4-BE49-F238E27FC236}">
                <a16:creationId xmlns:a16="http://schemas.microsoft.com/office/drawing/2014/main" id="{A852B1C4-2F2E-4019-A81B-36A3E40BE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84DE1BE-1478-4342-B439-12DD55675E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5D00E-7376-49EC-B215-91493CB406BF}" type="slidenum">
              <a:rPr lang="en-GB" smtClean="0"/>
              <a:t>‹#›</a:t>
            </a:fld>
            <a:endParaRPr lang="en-GB"/>
          </a:p>
        </p:txBody>
      </p:sp>
    </p:spTree>
    <p:extLst>
      <p:ext uri="{BB962C8B-B14F-4D97-AF65-F5344CB8AC3E}">
        <p14:creationId xmlns:p14="http://schemas.microsoft.com/office/powerpoint/2010/main" val="3801244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Building the Foundations of Success: </a:t>
            </a:r>
            <a:r>
              <a:rPr lang="en-GB" sz="8800"/>
              <a:t>Academic Motivation</a:t>
            </a:r>
            <a:endParaRPr lang="en-GB" sz="8800" b="1" dirty="0"/>
          </a:p>
        </p:txBody>
      </p:sp>
      <p:sp>
        <p:nvSpPr>
          <p:cNvPr id="3" name="Subtitle 2">
            <a:extLst>
              <a:ext uri="{FF2B5EF4-FFF2-40B4-BE49-F238E27FC236}">
                <a16:creationId xmlns:a16="http://schemas.microsoft.com/office/drawing/2014/main" id="{8029019F-344E-46B1-8125-82A9194B0D7D}"/>
              </a:ext>
            </a:extLst>
          </p:cNvPr>
          <p:cNvSpPr>
            <a:spLocks noGrp="1"/>
          </p:cNvSpPr>
          <p:nvPr>
            <p:ph type="subTitle" idx="1"/>
          </p:nvPr>
        </p:nvSpPr>
        <p:spPr>
          <a:xfrm>
            <a:off x="1524000" y="4849857"/>
            <a:ext cx="9144000" cy="1655762"/>
          </a:xfrm>
        </p:spPr>
        <p:txBody>
          <a:bodyPr>
            <a:normAutofit/>
          </a:bodyPr>
          <a:lstStyle/>
          <a:p>
            <a:r>
              <a:rPr lang="en-GB" sz="4800" b="1" dirty="0"/>
              <a:t>Short Course 2024</a:t>
            </a:r>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754835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Agenda</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1104900" y="1690688"/>
            <a:ext cx="9424148" cy="4351338"/>
          </a:xfrm>
        </p:spPr>
        <p:txBody>
          <a:bodyPr>
            <a:normAutofit fontScale="92500" lnSpcReduction="20000"/>
          </a:bodyPr>
          <a:lstStyle/>
          <a:p>
            <a:pPr marL="914400" indent="-914400">
              <a:buSzPct val="95000"/>
              <a:buFont typeface="+mj-lt"/>
              <a:buAutoNum type="arabicPeriod"/>
            </a:pPr>
            <a:r>
              <a:rPr lang="en-GB" sz="4000" dirty="0"/>
              <a:t>Short Course Overview</a:t>
            </a:r>
          </a:p>
          <a:p>
            <a:pPr marL="914400" indent="-914400">
              <a:buSzPct val="95000"/>
              <a:buFont typeface="+mj-lt"/>
              <a:buAutoNum type="arabicPeriod"/>
            </a:pPr>
            <a:r>
              <a:rPr lang="en-GB" sz="4000" dirty="0"/>
              <a:t>Introduce Academic Motivation (AM)</a:t>
            </a:r>
          </a:p>
          <a:p>
            <a:pPr marL="914400" indent="-914400">
              <a:buSzPct val="95000"/>
              <a:buFont typeface="+mj-lt"/>
              <a:buAutoNum type="arabicPeriod"/>
            </a:pPr>
            <a:r>
              <a:rPr lang="en-GB" sz="4000" dirty="0"/>
              <a:t>Activity 1 - Mentimeter</a:t>
            </a:r>
          </a:p>
          <a:p>
            <a:pPr marL="914400" indent="-914400">
              <a:buSzPct val="95000"/>
              <a:buFont typeface="+mj-lt"/>
              <a:buAutoNum type="arabicPeriod"/>
            </a:pPr>
            <a:r>
              <a:rPr lang="en-GB" sz="4000" dirty="0"/>
              <a:t>Importance of AM</a:t>
            </a:r>
          </a:p>
          <a:p>
            <a:pPr marL="914400" indent="-914400">
              <a:buSzPct val="95000"/>
              <a:buFont typeface="+mj-lt"/>
              <a:buAutoNum type="arabicPeriod"/>
            </a:pPr>
            <a:r>
              <a:rPr lang="en-GB" sz="4000" dirty="0"/>
              <a:t>Examine different types of motivation</a:t>
            </a:r>
          </a:p>
          <a:p>
            <a:pPr marL="914400" indent="-914400">
              <a:buSzPct val="95000"/>
              <a:buFont typeface="+mj-lt"/>
              <a:buAutoNum type="arabicPeriod"/>
            </a:pPr>
            <a:r>
              <a:rPr lang="en-GB" sz="4000" dirty="0"/>
              <a:t>Activity 2 – Goals and Interests</a:t>
            </a:r>
          </a:p>
          <a:p>
            <a:pPr marL="914400" indent="-914400">
              <a:buSzPct val="95000"/>
              <a:buFont typeface="+mj-lt"/>
              <a:buAutoNum type="arabicPeriod"/>
            </a:pPr>
            <a:r>
              <a:rPr lang="en-GB" sz="4000" dirty="0"/>
              <a:t>Activity 3 - Questionnaire</a:t>
            </a:r>
          </a:p>
          <a:p>
            <a:pPr marL="914400" indent="-914400">
              <a:buSzPct val="95000"/>
              <a:buFont typeface="+mj-lt"/>
              <a:buAutoNum type="arabicPeriod"/>
            </a:pPr>
            <a:r>
              <a:rPr lang="en-GB" sz="4000" dirty="0"/>
              <a:t>Discussion </a:t>
            </a:r>
          </a:p>
          <a:p>
            <a:pPr marL="0" indent="0">
              <a:buNone/>
            </a:pPr>
            <a:endParaRPr lang="en-GB" sz="5400" dirty="0"/>
          </a:p>
          <a:p>
            <a:pPr marL="914400" indent="-914400">
              <a:buFont typeface="+mj-lt"/>
              <a:buAutoNum type="arabicPeriod"/>
            </a:pPr>
            <a:endParaRPr lang="en-GB" sz="5400" dirty="0"/>
          </a:p>
          <a:p>
            <a:pPr marL="0" indent="0">
              <a:buNone/>
            </a:pPr>
            <a:endParaRPr lang="en-GB" dirty="0"/>
          </a:p>
        </p:txBody>
      </p:sp>
    </p:spTree>
    <p:extLst>
      <p:ext uri="{BB962C8B-B14F-4D97-AF65-F5344CB8AC3E}">
        <p14:creationId xmlns:p14="http://schemas.microsoft.com/office/powerpoint/2010/main" val="3386184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fontScale="90000"/>
          </a:bodyPr>
          <a:lstStyle/>
          <a:p>
            <a:r>
              <a:rPr lang="en-GB" sz="5400" b="1" dirty="0"/>
              <a:t>Course Overview – Student Engagement</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p:txBody>
          <a:bodyPr>
            <a:normAutofit/>
          </a:bodyPr>
          <a:lstStyle/>
          <a:p>
            <a:pPr marL="0" indent="0">
              <a:lnSpc>
                <a:spcPct val="115000"/>
              </a:lnSpc>
              <a:spcAft>
                <a:spcPts val="800"/>
              </a:spcAft>
              <a:buNone/>
            </a:pPr>
            <a:r>
              <a:rPr lang="en-GB" sz="3500" b="1" kern="100" dirty="0">
                <a:effectLst/>
                <a:latin typeface="Calibri" panose="020F0502020204030204" pitchFamily="34" charset="0"/>
                <a:ea typeface="Calibri" panose="020F0502020204030204" pitchFamily="34" charset="0"/>
                <a:cs typeface="Calibri" panose="020F0502020204030204" pitchFamily="34" charset="0"/>
              </a:rPr>
              <a:t>Your perspective: What do you think student engagement means?</a:t>
            </a:r>
          </a:p>
          <a:p>
            <a:pPr marL="0" indent="0">
              <a:buNone/>
            </a:pPr>
            <a:endParaRPr lang="en-GB" dirty="0"/>
          </a:p>
        </p:txBody>
      </p:sp>
    </p:spTree>
    <p:extLst>
      <p:ext uri="{BB962C8B-B14F-4D97-AF65-F5344CB8AC3E}">
        <p14:creationId xmlns:p14="http://schemas.microsoft.com/office/powerpoint/2010/main" val="4026313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fontScale="90000"/>
          </a:bodyPr>
          <a:lstStyle/>
          <a:p>
            <a:r>
              <a:rPr lang="en-GB" sz="5400" b="1" dirty="0"/>
              <a:t>Course Overview – Student Engagement</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22542" y="1253331"/>
            <a:ext cx="10515600" cy="4351338"/>
          </a:xfrm>
        </p:spPr>
        <p:txBody>
          <a:bodyPr>
            <a:normAutofit/>
          </a:bodyPr>
          <a:lstStyle/>
          <a:p>
            <a:pPr marL="0" indent="0">
              <a:lnSpc>
                <a:spcPct val="115000"/>
              </a:lnSpc>
              <a:spcAft>
                <a:spcPts val="800"/>
              </a:spcAft>
              <a:buNone/>
            </a:pPr>
            <a:r>
              <a:rPr lang="en-GB" sz="3500" b="1" kern="100" dirty="0">
                <a:effectLst/>
                <a:latin typeface="Calibri" panose="020F0502020204030204" pitchFamily="34" charset="0"/>
                <a:ea typeface="Calibri" panose="020F0502020204030204" pitchFamily="34" charset="0"/>
                <a:cs typeface="Calibri" panose="020F0502020204030204" pitchFamily="34" charset="0"/>
              </a:rPr>
              <a:t>Our perspective: What do we think student engagement means?</a:t>
            </a:r>
          </a:p>
          <a:p>
            <a:pPr marL="0" indent="0">
              <a:lnSpc>
                <a:spcPct val="115000"/>
              </a:lnSpc>
              <a:spcAft>
                <a:spcPts val="800"/>
              </a:spcAft>
              <a:buNone/>
            </a:pPr>
            <a:endParaRPr lang="en-GB" sz="3500" b="1" kern="100" dirty="0">
              <a:effectLst/>
              <a:latin typeface="Calibri" panose="020F0502020204030204" pitchFamily="34" charset="0"/>
              <a:ea typeface="Calibri" panose="020F0502020204030204" pitchFamily="34" charset="0"/>
              <a:cs typeface="Calibri" panose="020F0502020204030204" pitchFamily="34" charset="0"/>
            </a:endParaRPr>
          </a:p>
          <a:p>
            <a:pPr marL="0" indent="0">
              <a:lnSpc>
                <a:spcPct val="115000"/>
              </a:lnSpc>
              <a:spcAft>
                <a:spcPts val="800"/>
              </a:spcAft>
              <a:buNone/>
            </a:pPr>
            <a:endParaRPr lang="en-GB" sz="2000" kern="1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dirty="0"/>
          </a:p>
        </p:txBody>
      </p:sp>
      <p:sp>
        <p:nvSpPr>
          <p:cNvPr id="2" name="Rectangle: Rounded Corners 1">
            <a:extLst>
              <a:ext uri="{FF2B5EF4-FFF2-40B4-BE49-F238E27FC236}">
                <a16:creationId xmlns:a16="http://schemas.microsoft.com/office/drawing/2014/main" id="{8CDC0DEA-1802-83E3-E0F2-4FAC472E6DB3}"/>
              </a:ext>
            </a:extLst>
          </p:cNvPr>
          <p:cNvSpPr/>
          <p:nvPr/>
        </p:nvSpPr>
        <p:spPr>
          <a:xfrm>
            <a:off x="1377864" y="2591638"/>
            <a:ext cx="2569456" cy="742738"/>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Attendance</a:t>
            </a:r>
          </a:p>
        </p:txBody>
      </p:sp>
      <p:sp>
        <p:nvSpPr>
          <p:cNvPr id="3" name="Rectangle: Rounded Corners 2">
            <a:extLst>
              <a:ext uri="{FF2B5EF4-FFF2-40B4-BE49-F238E27FC236}">
                <a16:creationId xmlns:a16="http://schemas.microsoft.com/office/drawing/2014/main" id="{BA9CBD85-E541-7801-6115-55F4314EE00D}"/>
              </a:ext>
            </a:extLst>
          </p:cNvPr>
          <p:cNvSpPr/>
          <p:nvPr/>
        </p:nvSpPr>
        <p:spPr>
          <a:xfrm>
            <a:off x="1377864" y="5385894"/>
            <a:ext cx="2569456" cy="742738"/>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effectLst>
                  <a:outerShdw blurRad="38100" dist="38100" dir="2700000" algn="tl">
                    <a:srgbClr val="000000">
                      <a:alpha val="43137"/>
                    </a:srgbClr>
                  </a:outerShdw>
                </a:effectLst>
              </a:rPr>
              <a:t>Skill Development</a:t>
            </a:r>
          </a:p>
        </p:txBody>
      </p:sp>
      <p:sp>
        <p:nvSpPr>
          <p:cNvPr id="4" name="Rectangle: Rounded Corners 3">
            <a:extLst>
              <a:ext uri="{FF2B5EF4-FFF2-40B4-BE49-F238E27FC236}">
                <a16:creationId xmlns:a16="http://schemas.microsoft.com/office/drawing/2014/main" id="{4F690080-4BE4-6706-4AF3-C6F3E1CC613B}"/>
              </a:ext>
            </a:extLst>
          </p:cNvPr>
          <p:cNvSpPr/>
          <p:nvPr/>
        </p:nvSpPr>
        <p:spPr>
          <a:xfrm>
            <a:off x="4229505" y="2591638"/>
            <a:ext cx="2569456" cy="742738"/>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Participation</a:t>
            </a:r>
          </a:p>
        </p:txBody>
      </p:sp>
      <p:sp>
        <p:nvSpPr>
          <p:cNvPr id="5" name="Rectangle: Rounded Corners 4">
            <a:extLst>
              <a:ext uri="{FF2B5EF4-FFF2-40B4-BE49-F238E27FC236}">
                <a16:creationId xmlns:a16="http://schemas.microsoft.com/office/drawing/2014/main" id="{62E7E11F-A15A-8D35-B325-A35D63C53BC6}"/>
              </a:ext>
            </a:extLst>
          </p:cNvPr>
          <p:cNvSpPr/>
          <p:nvPr/>
        </p:nvSpPr>
        <p:spPr>
          <a:xfrm>
            <a:off x="4229505" y="5334920"/>
            <a:ext cx="2569456" cy="742738"/>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effectLst>
                  <a:outerShdw blurRad="38100" dist="38100" dir="2700000" algn="tl">
                    <a:srgbClr val="000000">
                      <a:alpha val="43137"/>
                    </a:srgbClr>
                  </a:outerShdw>
                </a:effectLst>
              </a:rPr>
              <a:t>Critical Thinking</a:t>
            </a:r>
          </a:p>
        </p:txBody>
      </p:sp>
      <p:sp>
        <p:nvSpPr>
          <p:cNvPr id="6" name="Rectangle: Rounded Corners 5">
            <a:extLst>
              <a:ext uri="{FF2B5EF4-FFF2-40B4-BE49-F238E27FC236}">
                <a16:creationId xmlns:a16="http://schemas.microsoft.com/office/drawing/2014/main" id="{CE9A1C75-790D-C55E-C044-79D2C0B8A496}"/>
              </a:ext>
            </a:extLst>
          </p:cNvPr>
          <p:cNvSpPr/>
          <p:nvPr/>
        </p:nvSpPr>
        <p:spPr>
          <a:xfrm>
            <a:off x="7081146" y="2570397"/>
            <a:ext cx="2569456" cy="742738"/>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Identity</a:t>
            </a:r>
          </a:p>
        </p:txBody>
      </p:sp>
      <p:sp>
        <p:nvSpPr>
          <p:cNvPr id="8" name="Rectangle: Rounded Corners 7">
            <a:extLst>
              <a:ext uri="{FF2B5EF4-FFF2-40B4-BE49-F238E27FC236}">
                <a16:creationId xmlns:a16="http://schemas.microsoft.com/office/drawing/2014/main" id="{E1E0C2B8-DEC3-0A79-24C9-85845E7EFD3D}"/>
              </a:ext>
            </a:extLst>
          </p:cNvPr>
          <p:cNvSpPr/>
          <p:nvPr/>
        </p:nvSpPr>
        <p:spPr>
          <a:xfrm>
            <a:off x="7081146" y="5341495"/>
            <a:ext cx="2569456" cy="742738"/>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effectLst>
                  <a:outerShdw blurRad="38100" dist="38100" dir="2700000" algn="tl">
                    <a:srgbClr val="000000">
                      <a:alpha val="43137"/>
                    </a:srgbClr>
                  </a:outerShdw>
                </a:effectLst>
              </a:rPr>
              <a:t>A 2-way process</a:t>
            </a:r>
          </a:p>
        </p:txBody>
      </p:sp>
      <p:sp>
        <p:nvSpPr>
          <p:cNvPr id="11" name="Rectangle: Rounded Corners 10">
            <a:extLst>
              <a:ext uri="{FF2B5EF4-FFF2-40B4-BE49-F238E27FC236}">
                <a16:creationId xmlns:a16="http://schemas.microsoft.com/office/drawing/2014/main" id="{A27FECDA-2653-9008-2E95-55C5C2EE5B38}"/>
              </a:ext>
            </a:extLst>
          </p:cNvPr>
          <p:cNvSpPr/>
          <p:nvPr/>
        </p:nvSpPr>
        <p:spPr>
          <a:xfrm>
            <a:off x="1377864" y="4454476"/>
            <a:ext cx="2569456" cy="742738"/>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Feedback</a:t>
            </a:r>
          </a:p>
        </p:txBody>
      </p:sp>
      <p:sp>
        <p:nvSpPr>
          <p:cNvPr id="12" name="Rectangle: Rounded Corners 11">
            <a:extLst>
              <a:ext uri="{FF2B5EF4-FFF2-40B4-BE49-F238E27FC236}">
                <a16:creationId xmlns:a16="http://schemas.microsoft.com/office/drawing/2014/main" id="{A244F267-13E9-5854-E245-0D76DF88FE48}"/>
              </a:ext>
            </a:extLst>
          </p:cNvPr>
          <p:cNvSpPr/>
          <p:nvPr/>
        </p:nvSpPr>
        <p:spPr>
          <a:xfrm>
            <a:off x="4229505" y="4453590"/>
            <a:ext cx="2569456" cy="742738"/>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effectLst>
                  <a:outerShdw blurRad="38100" dist="38100" dir="2700000" algn="tl">
                    <a:srgbClr val="000000">
                      <a:alpha val="43137"/>
                    </a:srgbClr>
                  </a:outerShdw>
                </a:effectLst>
              </a:rPr>
              <a:t>Learning Responsibility</a:t>
            </a:r>
          </a:p>
        </p:txBody>
      </p:sp>
      <p:sp>
        <p:nvSpPr>
          <p:cNvPr id="13" name="Rectangle: Rounded Corners 12">
            <a:extLst>
              <a:ext uri="{FF2B5EF4-FFF2-40B4-BE49-F238E27FC236}">
                <a16:creationId xmlns:a16="http://schemas.microsoft.com/office/drawing/2014/main" id="{F56EE51F-E1BE-1A5F-B449-48E0B307AEC5}"/>
              </a:ext>
            </a:extLst>
          </p:cNvPr>
          <p:cNvSpPr/>
          <p:nvPr/>
        </p:nvSpPr>
        <p:spPr>
          <a:xfrm>
            <a:off x="7081146" y="4460756"/>
            <a:ext cx="2569456" cy="742738"/>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Satisfaction</a:t>
            </a:r>
          </a:p>
        </p:txBody>
      </p:sp>
      <p:sp>
        <p:nvSpPr>
          <p:cNvPr id="14" name="Rectangle: Rounded Corners 13">
            <a:extLst>
              <a:ext uri="{FF2B5EF4-FFF2-40B4-BE49-F238E27FC236}">
                <a16:creationId xmlns:a16="http://schemas.microsoft.com/office/drawing/2014/main" id="{5E35F94F-D16A-89D4-805A-08568BAC3845}"/>
              </a:ext>
            </a:extLst>
          </p:cNvPr>
          <p:cNvSpPr/>
          <p:nvPr/>
        </p:nvSpPr>
        <p:spPr>
          <a:xfrm>
            <a:off x="1377864" y="3523057"/>
            <a:ext cx="2569456" cy="742738"/>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Assessments</a:t>
            </a:r>
          </a:p>
        </p:txBody>
      </p:sp>
      <p:sp>
        <p:nvSpPr>
          <p:cNvPr id="15" name="Rectangle: Rounded Corners 14">
            <a:extLst>
              <a:ext uri="{FF2B5EF4-FFF2-40B4-BE49-F238E27FC236}">
                <a16:creationId xmlns:a16="http://schemas.microsoft.com/office/drawing/2014/main" id="{748114C1-D151-5CA2-8CAB-70425B6EF99F}"/>
              </a:ext>
            </a:extLst>
          </p:cNvPr>
          <p:cNvSpPr/>
          <p:nvPr/>
        </p:nvSpPr>
        <p:spPr>
          <a:xfrm>
            <a:off x="4229505" y="3544904"/>
            <a:ext cx="2569456" cy="742738"/>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Reading</a:t>
            </a:r>
          </a:p>
        </p:txBody>
      </p:sp>
      <p:sp>
        <p:nvSpPr>
          <p:cNvPr id="16" name="Rectangle: Rounded Corners 15">
            <a:extLst>
              <a:ext uri="{FF2B5EF4-FFF2-40B4-BE49-F238E27FC236}">
                <a16:creationId xmlns:a16="http://schemas.microsoft.com/office/drawing/2014/main" id="{75AC907C-0045-1B0E-1E8E-EB9383BA7C86}"/>
              </a:ext>
            </a:extLst>
          </p:cNvPr>
          <p:cNvSpPr/>
          <p:nvPr/>
        </p:nvSpPr>
        <p:spPr>
          <a:xfrm>
            <a:off x="7081146" y="3529525"/>
            <a:ext cx="2569456" cy="742738"/>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Preparation</a:t>
            </a:r>
          </a:p>
        </p:txBody>
      </p:sp>
    </p:spTree>
    <p:extLst>
      <p:ext uri="{BB962C8B-B14F-4D97-AF65-F5344CB8AC3E}">
        <p14:creationId xmlns:p14="http://schemas.microsoft.com/office/powerpoint/2010/main" val="1779580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Course Overview – Key Points</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p:txBody>
          <a:bodyPr>
            <a:normAutofit fontScale="92500"/>
          </a:bodyPr>
          <a:lstStyle/>
          <a:p>
            <a:pPr marL="0" indent="0">
              <a:buNone/>
            </a:pPr>
            <a:r>
              <a:rPr lang="en-GB" sz="3600" dirty="0"/>
              <a:t>Over the next few days, we will be discussing several critical skills and attributes, all of which you can learn and develop. Students that demonstrate these tend to…</a:t>
            </a:r>
          </a:p>
          <a:p>
            <a:pPr lvl="1"/>
            <a:r>
              <a:rPr lang="en-GB" sz="3200" dirty="0"/>
              <a:t>Enjoy their course</a:t>
            </a:r>
          </a:p>
          <a:p>
            <a:pPr lvl="1"/>
            <a:r>
              <a:rPr lang="en-GB" sz="3200" dirty="0"/>
              <a:t>Feel less academic stress</a:t>
            </a:r>
          </a:p>
          <a:p>
            <a:pPr lvl="1"/>
            <a:r>
              <a:rPr lang="en-GB" sz="3200" dirty="0"/>
              <a:t>Manage their workload</a:t>
            </a:r>
          </a:p>
          <a:p>
            <a:pPr lvl="1"/>
            <a:r>
              <a:rPr lang="en-GB" sz="3200" dirty="0"/>
              <a:t>Achieve better grades</a:t>
            </a:r>
          </a:p>
          <a:p>
            <a:pPr lvl="1"/>
            <a:r>
              <a:rPr lang="en-GB" sz="3200" dirty="0"/>
              <a:t>Feel motivated</a:t>
            </a:r>
          </a:p>
          <a:p>
            <a:pPr lvl="1"/>
            <a:r>
              <a:rPr lang="en-GB" sz="3200" dirty="0"/>
              <a:t>Feel confident</a:t>
            </a:r>
          </a:p>
        </p:txBody>
      </p:sp>
    </p:spTree>
    <p:extLst>
      <p:ext uri="{BB962C8B-B14F-4D97-AF65-F5344CB8AC3E}">
        <p14:creationId xmlns:p14="http://schemas.microsoft.com/office/powerpoint/2010/main" val="3567124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rmAutofit/>
          </a:bodyPr>
          <a:lstStyle/>
          <a:p>
            <a:r>
              <a:rPr lang="en-GB" sz="5400" b="1" dirty="0"/>
              <a:t>Academic Motivation</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p:txBody>
          <a:bodyPr/>
          <a:lstStyle/>
          <a:p>
            <a:pPr marL="0" indent="0">
              <a:buNone/>
            </a:pPr>
            <a:r>
              <a:rPr lang="en-GB" sz="5400" dirty="0"/>
              <a:t>“Academic motivation refers to the drive, desire, and determination that students have to engage in academic activities and pursue educational goals”</a:t>
            </a:r>
          </a:p>
          <a:p>
            <a:pPr marL="0" indent="0">
              <a:buNone/>
            </a:pPr>
            <a:endParaRPr lang="en-GB" dirty="0"/>
          </a:p>
        </p:txBody>
      </p:sp>
    </p:spTree>
    <p:extLst>
      <p:ext uri="{BB962C8B-B14F-4D97-AF65-F5344CB8AC3E}">
        <p14:creationId xmlns:p14="http://schemas.microsoft.com/office/powerpoint/2010/main" val="4118268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Understanding Your Academic Motivation</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fontScale="85000" lnSpcReduction="10000"/>
          </a:bodyPr>
          <a:lstStyle/>
          <a:p>
            <a:pPr marL="0" indent="0">
              <a:lnSpc>
                <a:spcPct val="100000"/>
              </a:lnSpc>
              <a:buNone/>
            </a:pPr>
            <a:r>
              <a:rPr lang="en-GB" sz="5400" dirty="0"/>
              <a:t>Includes:</a:t>
            </a:r>
          </a:p>
          <a:p>
            <a:pPr>
              <a:lnSpc>
                <a:spcPct val="100000"/>
              </a:lnSpc>
            </a:pPr>
            <a:r>
              <a:rPr lang="en-GB" sz="5400" dirty="0"/>
              <a:t>reasons why you are </a:t>
            </a:r>
            <a:r>
              <a:rPr lang="en-GB" sz="5400" b="1" dirty="0"/>
              <a:t>interested</a:t>
            </a:r>
            <a:r>
              <a:rPr lang="en-GB" sz="5400" dirty="0"/>
              <a:t> in your chosen degree program</a:t>
            </a:r>
          </a:p>
          <a:p>
            <a:pPr>
              <a:lnSpc>
                <a:spcPct val="100000"/>
              </a:lnSpc>
            </a:pPr>
            <a:r>
              <a:rPr lang="en-GB" sz="5400" dirty="0"/>
              <a:t>the </a:t>
            </a:r>
            <a:r>
              <a:rPr lang="en-GB" sz="5400" b="1" dirty="0"/>
              <a:t>goals</a:t>
            </a:r>
            <a:r>
              <a:rPr lang="en-GB" sz="5400" dirty="0"/>
              <a:t> you set for yourself</a:t>
            </a:r>
          </a:p>
          <a:p>
            <a:pPr>
              <a:lnSpc>
                <a:spcPct val="100000"/>
              </a:lnSpc>
            </a:pPr>
            <a:r>
              <a:rPr lang="en-GB" sz="5400" dirty="0"/>
              <a:t>the </a:t>
            </a:r>
            <a:r>
              <a:rPr lang="en-GB" sz="5400" b="1" dirty="0"/>
              <a:t>persistence</a:t>
            </a:r>
            <a:r>
              <a:rPr lang="en-GB" sz="5400" dirty="0"/>
              <a:t> you exhibit in overcoming challenges to achieve academic success</a:t>
            </a:r>
          </a:p>
          <a:p>
            <a:pPr marL="0" indent="0">
              <a:buNone/>
            </a:pPr>
            <a:endParaRPr lang="en-GB" dirty="0"/>
          </a:p>
        </p:txBody>
      </p:sp>
    </p:spTree>
    <p:extLst>
      <p:ext uri="{BB962C8B-B14F-4D97-AF65-F5344CB8AC3E}">
        <p14:creationId xmlns:p14="http://schemas.microsoft.com/office/powerpoint/2010/main" val="725433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1</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457586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Why do you want to study your chosen subject?</a:t>
            </a:r>
          </a:p>
        </p:txBody>
      </p:sp>
      <p:pic>
        <p:nvPicPr>
          <p:cNvPr id="5" name="Picture 4" descr="A qr code on a white background&#10;&#10;Description automatically generated">
            <a:extLst>
              <a:ext uri="{FF2B5EF4-FFF2-40B4-BE49-F238E27FC236}">
                <a16:creationId xmlns:a16="http://schemas.microsoft.com/office/drawing/2014/main" id="{93DE0C40-78CB-444D-9F4C-146EB62290B1}"/>
              </a:ext>
            </a:extLst>
          </p:cNvPr>
          <p:cNvPicPr>
            <a:picLocks noChangeAspect="1"/>
          </p:cNvPicPr>
          <p:nvPr/>
        </p:nvPicPr>
        <p:blipFill>
          <a:blip r:embed="rId4"/>
          <a:stretch>
            <a:fillRect/>
          </a:stretch>
        </p:blipFill>
        <p:spPr>
          <a:xfrm>
            <a:off x="6559308" y="1825625"/>
            <a:ext cx="4359704" cy="4359704"/>
          </a:xfrm>
          <a:prstGeom prst="rect">
            <a:avLst/>
          </a:prstGeom>
          <a:ln w="47625">
            <a:solidFill>
              <a:schemeClr val="accent1"/>
            </a:solidFill>
          </a:ln>
        </p:spPr>
      </p:pic>
      <p:pic>
        <p:nvPicPr>
          <p:cNvPr id="2" name="Picture 1">
            <a:extLst>
              <a:ext uri="{FF2B5EF4-FFF2-40B4-BE49-F238E27FC236}">
                <a16:creationId xmlns:a16="http://schemas.microsoft.com/office/drawing/2014/main" id="{8A2F06A8-93D7-403B-AAD2-F405085C2103}"/>
              </a:ext>
            </a:extLst>
          </p:cNvPr>
          <p:cNvPicPr>
            <a:picLocks noChangeAspect="1"/>
          </p:cNvPicPr>
          <p:nvPr/>
        </p:nvPicPr>
        <p:blipFill>
          <a:blip r:embed="rId5"/>
          <a:stretch>
            <a:fillRect/>
          </a:stretch>
        </p:blipFill>
        <p:spPr>
          <a:xfrm>
            <a:off x="1285205" y="1832833"/>
            <a:ext cx="4359703" cy="4352496"/>
          </a:xfrm>
          <a:prstGeom prst="rect">
            <a:avLst/>
          </a:prstGeom>
          <a:ln w="47625">
            <a:solidFill>
              <a:schemeClr val="accent1"/>
            </a:solidFill>
          </a:ln>
        </p:spPr>
      </p:pic>
    </p:spTree>
    <p:extLst>
      <p:ext uri="{BB962C8B-B14F-4D97-AF65-F5344CB8AC3E}">
        <p14:creationId xmlns:p14="http://schemas.microsoft.com/office/powerpoint/2010/main" val="959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1219197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Importance of Academic Motivation</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4351338"/>
          </a:xfrm>
        </p:spPr>
        <p:txBody>
          <a:bodyPr>
            <a:normAutofit fontScale="92500" lnSpcReduction="20000"/>
          </a:bodyPr>
          <a:lstStyle/>
          <a:p>
            <a:pPr>
              <a:lnSpc>
                <a:spcPct val="100000"/>
              </a:lnSpc>
            </a:pPr>
            <a:r>
              <a:rPr lang="en-GB" sz="5400" dirty="0"/>
              <a:t>It enhances your engagement and participation in learning activities</a:t>
            </a:r>
          </a:p>
          <a:p>
            <a:pPr>
              <a:lnSpc>
                <a:spcPct val="100000"/>
              </a:lnSpc>
            </a:pPr>
            <a:r>
              <a:rPr lang="en-GB" sz="5400" dirty="0"/>
              <a:t>It improves your academic performance and achievement</a:t>
            </a:r>
          </a:p>
          <a:p>
            <a:pPr>
              <a:lnSpc>
                <a:spcPct val="100000"/>
              </a:lnSpc>
            </a:pPr>
            <a:r>
              <a:rPr lang="en-GB" sz="5400" dirty="0"/>
              <a:t>It fosters a positive attitude towards education and lifelong learning</a:t>
            </a:r>
          </a:p>
          <a:p>
            <a:pPr marL="0" indent="0">
              <a:buNone/>
            </a:pPr>
            <a:endParaRPr lang="en-GB" dirty="0"/>
          </a:p>
        </p:txBody>
      </p:sp>
    </p:spTree>
    <p:extLst>
      <p:ext uri="{BB962C8B-B14F-4D97-AF65-F5344CB8AC3E}">
        <p14:creationId xmlns:p14="http://schemas.microsoft.com/office/powerpoint/2010/main" val="2242767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fontScale="90000"/>
          </a:bodyPr>
          <a:lstStyle/>
          <a:p>
            <a:r>
              <a:rPr lang="en-GB" sz="8800" dirty="0"/>
              <a:t>Types of Academic Motivation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693114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403498"/>
            <a:ext cx="11035553" cy="1325563"/>
          </a:xfrm>
        </p:spPr>
        <p:txBody>
          <a:bodyPr>
            <a:noAutofit/>
          </a:bodyPr>
          <a:lstStyle/>
          <a:p>
            <a:r>
              <a:rPr lang="en-GB" sz="5400" b="1" dirty="0"/>
              <a:t>Intrinsic Motivation</a:t>
            </a:r>
          </a:p>
        </p:txBody>
      </p:sp>
      <p:sp>
        <p:nvSpPr>
          <p:cNvPr id="8" name="Rectangle: Rounded Corners 7">
            <a:extLst>
              <a:ext uri="{FF2B5EF4-FFF2-40B4-BE49-F238E27FC236}">
                <a16:creationId xmlns:a16="http://schemas.microsoft.com/office/drawing/2014/main" id="{227F25B7-B858-4C1A-BA39-BA05DC43F7B3}"/>
              </a:ext>
            </a:extLst>
          </p:cNvPr>
          <p:cNvSpPr/>
          <p:nvPr/>
        </p:nvSpPr>
        <p:spPr>
          <a:xfrm>
            <a:off x="1282750" y="1450593"/>
            <a:ext cx="2952666" cy="2047871"/>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Personal </a:t>
            </a:r>
          </a:p>
          <a:p>
            <a:pPr algn="ctr"/>
            <a:r>
              <a:rPr lang="en-GB" sz="3200" dirty="0">
                <a:effectLst>
                  <a:outerShdw blurRad="38100" dist="38100" dir="2700000" algn="tl">
                    <a:srgbClr val="000000">
                      <a:alpha val="43137"/>
                    </a:srgbClr>
                  </a:outerShdw>
                </a:effectLst>
              </a:rPr>
              <a:t>Development</a:t>
            </a:r>
          </a:p>
        </p:txBody>
      </p:sp>
      <p:sp>
        <p:nvSpPr>
          <p:cNvPr id="5" name="Rectangle: Rounded Corners 4">
            <a:extLst>
              <a:ext uri="{FF2B5EF4-FFF2-40B4-BE49-F238E27FC236}">
                <a16:creationId xmlns:a16="http://schemas.microsoft.com/office/drawing/2014/main" id="{C799588E-3CB8-402E-9D39-0DF648C6C5F6}"/>
              </a:ext>
            </a:extLst>
          </p:cNvPr>
          <p:cNvSpPr/>
          <p:nvPr/>
        </p:nvSpPr>
        <p:spPr>
          <a:xfrm>
            <a:off x="1282750" y="4073435"/>
            <a:ext cx="2952666" cy="2047871"/>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Curiosity</a:t>
            </a:r>
          </a:p>
        </p:txBody>
      </p:sp>
      <p:sp>
        <p:nvSpPr>
          <p:cNvPr id="6" name="Rectangle: Rounded Corners 5">
            <a:extLst>
              <a:ext uri="{FF2B5EF4-FFF2-40B4-BE49-F238E27FC236}">
                <a16:creationId xmlns:a16="http://schemas.microsoft.com/office/drawing/2014/main" id="{A75D5393-C1AB-413A-A56C-34CD34E23196}"/>
              </a:ext>
            </a:extLst>
          </p:cNvPr>
          <p:cNvSpPr/>
          <p:nvPr/>
        </p:nvSpPr>
        <p:spPr>
          <a:xfrm>
            <a:off x="4524033" y="1465475"/>
            <a:ext cx="2952666" cy="2047871"/>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Autonomy</a:t>
            </a:r>
          </a:p>
        </p:txBody>
      </p:sp>
      <p:sp>
        <p:nvSpPr>
          <p:cNvPr id="10" name="Rectangle: Rounded Corners 9">
            <a:extLst>
              <a:ext uri="{FF2B5EF4-FFF2-40B4-BE49-F238E27FC236}">
                <a16:creationId xmlns:a16="http://schemas.microsoft.com/office/drawing/2014/main" id="{A77B4019-FC18-4111-A225-D641CB70D0BE}"/>
              </a:ext>
            </a:extLst>
          </p:cNvPr>
          <p:cNvSpPr/>
          <p:nvPr/>
        </p:nvSpPr>
        <p:spPr>
          <a:xfrm>
            <a:off x="4524033" y="4079974"/>
            <a:ext cx="2952666" cy="2047871"/>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Passion</a:t>
            </a:r>
          </a:p>
        </p:txBody>
      </p:sp>
      <p:sp>
        <p:nvSpPr>
          <p:cNvPr id="11" name="Rectangle: Rounded Corners 10">
            <a:extLst>
              <a:ext uri="{FF2B5EF4-FFF2-40B4-BE49-F238E27FC236}">
                <a16:creationId xmlns:a16="http://schemas.microsoft.com/office/drawing/2014/main" id="{EBBCFA70-5ABB-4399-B445-16D18530CBF1}"/>
              </a:ext>
            </a:extLst>
          </p:cNvPr>
          <p:cNvSpPr/>
          <p:nvPr/>
        </p:nvSpPr>
        <p:spPr>
          <a:xfrm>
            <a:off x="7790368" y="1450593"/>
            <a:ext cx="2952666" cy="2047871"/>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Challenge</a:t>
            </a:r>
          </a:p>
        </p:txBody>
      </p:sp>
      <p:sp>
        <p:nvSpPr>
          <p:cNvPr id="12" name="Rectangle: Rounded Corners 11">
            <a:extLst>
              <a:ext uri="{FF2B5EF4-FFF2-40B4-BE49-F238E27FC236}">
                <a16:creationId xmlns:a16="http://schemas.microsoft.com/office/drawing/2014/main" id="{19C8F152-AB54-432C-8542-BF4C2A3EC153}"/>
              </a:ext>
            </a:extLst>
          </p:cNvPr>
          <p:cNvSpPr/>
          <p:nvPr/>
        </p:nvSpPr>
        <p:spPr>
          <a:xfrm>
            <a:off x="7790368" y="4079974"/>
            <a:ext cx="2952666" cy="2047871"/>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External rewards not required</a:t>
            </a:r>
          </a:p>
        </p:txBody>
      </p:sp>
    </p:spTree>
    <p:extLst>
      <p:ext uri="{BB962C8B-B14F-4D97-AF65-F5344CB8AC3E}">
        <p14:creationId xmlns:p14="http://schemas.microsoft.com/office/powerpoint/2010/main" val="1927338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Autofit/>
          </a:bodyPr>
          <a:lstStyle/>
          <a:p>
            <a:r>
              <a:rPr lang="en-GB" sz="5400" b="1" dirty="0"/>
              <a:t>Intrinsic Motivation: Pros and Cons</a:t>
            </a:r>
          </a:p>
        </p:txBody>
      </p:sp>
      <p:sp>
        <p:nvSpPr>
          <p:cNvPr id="2" name="Content Placeholder 1">
            <a:extLst>
              <a:ext uri="{FF2B5EF4-FFF2-40B4-BE49-F238E27FC236}">
                <a16:creationId xmlns:a16="http://schemas.microsoft.com/office/drawing/2014/main" id="{D6FE7A85-ECA6-424A-9F23-AC734FA07C76}"/>
              </a:ext>
            </a:extLst>
          </p:cNvPr>
          <p:cNvSpPr>
            <a:spLocks noGrp="1"/>
          </p:cNvSpPr>
          <p:nvPr>
            <p:ph sz="half" idx="1"/>
          </p:nvPr>
        </p:nvSpPr>
        <p:spPr/>
        <p:txBody>
          <a:bodyPr/>
          <a:lstStyle/>
          <a:p>
            <a:pPr marL="0" indent="0">
              <a:buNone/>
            </a:pPr>
            <a:r>
              <a:rPr lang="en-GB" sz="4000" dirty="0"/>
              <a:t>Intrinsic Pros: </a:t>
            </a:r>
          </a:p>
          <a:p>
            <a:r>
              <a:rPr lang="en-GB" sz="3200" dirty="0"/>
              <a:t>Increased engagement</a:t>
            </a:r>
          </a:p>
          <a:p>
            <a:r>
              <a:rPr lang="en-GB" sz="3200" dirty="0"/>
              <a:t>Higher satisfaction</a:t>
            </a:r>
          </a:p>
          <a:p>
            <a:r>
              <a:rPr lang="en-GB" sz="3200" dirty="0"/>
              <a:t>Resilience</a:t>
            </a:r>
          </a:p>
          <a:p>
            <a:r>
              <a:rPr lang="en-GB" sz="3200" dirty="0"/>
              <a:t>Personal growth</a:t>
            </a:r>
          </a:p>
          <a:p>
            <a:r>
              <a:rPr lang="en-GB" sz="3200" dirty="0"/>
              <a:t>Positive psychological and academic outcomes</a:t>
            </a:r>
          </a:p>
          <a:p>
            <a:endParaRPr lang="en-GB" dirty="0"/>
          </a:p>
        </p:txBody>
      </p:sp>
      <p:sp>
        <p:nvSpPr>
          <p:cNvPr id="3" name="Content Placeholder 2">
            <a:extLst>
              <a:ext uri="{FF2B5EF4-FFF2-40B4-BE49-F238E27FC236}">
                <a16:creationId xmlns:a16="http://schemas.microsoft.com/office/drawing/2014/main" id="{7892E58F-B303-4A8D-BD4F-5C2C9F8C4147}"/>
              </a:ext>
            </a:extLst>
          </p:cNvPr>
          <p:cNvSpPr>
            <a:spLocks noGrp="1"/>
          </p:cNvSpPr>
          <p:nvPr>
            <p:ph sz="half" idx="2"/>
          </p:nvPr>
        </p:nvSpPr>
        <p:spPr/>
        <p:txBody>
          <a:bodyPr/>
          <a:lstStyle/>
          <a:p>
            <a:pPr marL="0" indent="0">
              <a:buNone/>
            </a:pPr>
            <a:r>
              <a:rPr lang="en-GB" sz="4000" dirty="0"/>
              <a:t>Intrinsic Cons</a:t>
            </a:r>
            <a:r>
              <a:rPr lang="en-GB" sz="3200" dirty="0"/>
              <a:t>: </a:t>
            </a:r>
          </a:p>
          <a:p>
            <a:r>
              <a:rPr lang="en-GB" sz="3200" dirty="0"/>
              <a:t>Variable across individuals</a:t>
            </a:r>
          </a:p>
          <a:p>
            <a:r>
              <a:rPr lang="en-GB" sz="3200" dirty="0"/>
              <a:t>Problematic if subject does not align with values</a:t>
            </a:r>
          </a:p>
          <a:p>
            <a:r>
              <a:rPr lang="en-GB" sz="3200" dirty="0"/>
              <a:t>Selective application</a:t>
            </a:r>
          </a:p>
          <a:p>
            <a:r>
              <a:rPr lang="en-GB" sz="3200" dirty="0"/>
              <a:t>Hyperfocus at cost to less ‘interesting’ topics</a:t>
            </a:r>
          </a:p>
          <a:p>
            <a:endParaRPr lang="en-GB" dirty="0"/>
          </a:p>
        </p:txBody>
      </p:sp>
    </p:spTree>
    <p:extLst>
      <p:ext uri="{BB962C8B-B14F-4D97-AF65-F5344CB8AC3E}">
        <p14:creationId xmlns:p14="http://schemas.microsoft.com/office/powerpoint/2010/main" val="201164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anim calcmode="lin" valueType="num">
                                      <p:cBhvr additive="base">
                                        <p:cTn id="2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0" end="0"/>
                                            </p:txEl>
                                          </p:spTgt>
                                        </p:tgtEl>
                                        <p:attrNameLst>
                                          <p:attrName>style.visibility</p:attrName>
                                        </p:attrNameLst>
                                      </p:cBhvr>
                                      <p:to>
                                        <p:strVal val="visible"/>
                                      </p:to>
                                    </p:set>
                                    <p:anim calcmode="lin" valueType="num">
                                      <p:cBhvr additive="base">
                                        <p:cTn id="3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 calcmode="lin" valueType="num">
                                      <p:cBhvr additive="base">
                                        <p:cTn id="3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 calcmode="lin" valueType="num">
                                      <p:cBhvr additive="base">
                                        <p:cTn id="4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anim calcmode="lin" valueType="num">
                                      <p:cBhvr additive="base">
                                        <p:cTn id="4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 calcmode="lin" valueType="num">
                                      <p:cBhvr additive="base">
                                        <p:cTn id="4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403498"/>
            <a:ext cx="11035553" cy="1325563"/>
          </a:xfrm>
        </p:spPr>
        <p:txBody>
          <a:bodyPr>
            <a:noAutofit/>
          </a:bodyPr>
          <a:lstStyle/>
          <a:p>
            <a:r>
              <a:rPr lang="en-GB" sz="5400" b="1" dirty="0"/>
              <a:t>Extrinsic Motivation</a:t>
            </a:r>
          </a:p>
        </p:txBody>
      </p:sp>
      <p:sp>
        <p:nvSpPr>
          <p:cNvPr id="8" name="Rectangle: Rounded Corners 7">
            <a:extLst>
              <a:ext uri="{FF2B5EF4-FFF2-40B4-BE49-F238E27FC236}">
                <a16:creationId xmlns:a16="http://schemas.microsoft.com/office/drawing/2014/main" id="{227F25B7-B858-4C1A-BA39-BA05DC43F7B3}"/>
              </a:ext>
            </a:extLst>
          </p:cNvPr>
          <p:cNvSpPr/>
          <p:nvPr/>
        </p:nvSpPr>
        <p:spPr>
          <a:xfrm>
            <a:off x="1207594" y="1450593"/>
            <a:ext cx="2952666" cy="2047871"/>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Grades &amp; Competition</a:t>
            </a:r>
          </a:p>
        </p:txBody>
      </p:sp>
      <p:sp>
        <p:nvSpPr>
          <p:cNvPr id="5" name="Rectangle: Rounded Corners 4">
            <a:extLst>
              <a:ext uri="{FF2B5EF4-FFF2-40B4-BE49-F238E27FC236}">
                <a16:creationId xmlns:a16="http://schemas.microsoft.com/office/drawing/2014/main" id="{C799588E-3CB8-402E-9D39-0DF648C6C5F6}"/>
              </a:ext>
            </a:extLst>
          </p:cNvPr>
          <p:cNvSpPr/>
          <p:nvPr/>
        </p:nvSpPr>
        <p:spPr>
          <a:xfrm>
            <a:off x="1207594" y="4073435"/>
            <a:ext cx="2952666" cy="2047871"/>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Expectations of others</a:t>
            </a:r>
          </a:p>
        </p:txBody>
      </p:sp>
      <p:sp>
        <p:nvSpPr>
          <p:cNvPr id="6" name="Rectangle: Rounded Corners 5">
            <a:extLst>
              <a:ext uri="{FF2B5EF4-FFF2-40B4-BE49-F238E27FC236}">
                <a16:creationId xmlns:a16="http://schemas.microsoft.com/office/drawing/2014/main" id="{A75D5393-C1AB-413A-A56C-34CD34E23196}"/>
              </a:ext>
            </a:extLst>
          </p:cNvPr>
          <p:cNvSpPr/>
          <p:nvPr/>
        </p:nvSpPr>
        <p:spPr>
          <a:xfrm>
            <a:off x="4524033" y="1465475"/>
            <a:ext cx="2952666" cy="2047871"/>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Praise and Recognition</a:t>
            </a:r>
          </a:p>
        </p:txBody>
      </p:sp>
      <p:sp>
        <p:nvSpPr>
          <p:cNvPr id="10" name="Rectangle: Rounded Corners 9">
            <a:extLst>
              <a:ext uri="{FF2B5EF4-FFF2-40B4-BE49-F238E27FC236}">
                <a16:creationId xmlns:a16="http://schemas.microsoft.com/office/drawing/2014/main" id="{A77B4019-FC18-4111-A225-D641CB70D0BE}"/>
              </a:ext>
            </a:extLst>
          </p:cNvPr>
          <p:cNvSpPr/>
          <p:nvPr/>
        </p:nvSpPr>
        <p:spPr>
          <a:xfrm>
            <a:off x="4524033" y="4079974"/>
            <a:ext cx="2952666" cy="2047871"/>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Avoidance of punishment or failure</a:t>
            </a:r>
          </a:p>
        </p:txBody>
      </p:sp>
      <p:sp>
        <p:nvSpPr>
          <p:cNvPr id="11" name="Rectangle: Rounded Corners 10">
            <a:extLst>
              <a:ext uri="{FF2B5EF4-FFF2-40B4-BE49-F238E27FC236}">
                <a16:creationId xmlns:a16="http://schemas.microsoft.com/office/drawing/2014/main" id="{EBBCFA70-5ABB-4399-B445-16D18530CBF1}"/>
              </a:ext>
            </a:extLst>
          </p:cNvPr>
          <p:cNvSpPr/>
          <p:nvPr/>
        </p:nvSpPr>
        <p:spPr>
          <a:xfrm>
            <a:off x="7903102" y="1450593"/>
            <a:ext cx="2952666" cy="2047871"/>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Future Earnings</a:t>
            </a:r>
          </a:p>
        </p:txBody>
      </p:sp>
      <p:sp>
        <p:nvSpPr>
          <p:cNvPr id="12" name="Rectangle: Rounded Corners 11">
            <a:extLst>
              <a:ext uri="{FF2B5EF4-FFF2-40B4-BE49-F238E27FC236}">
                <a16:creationId xmlns:a16="http://schemas.microsoft.com/office/drawing/2014/main" id="{19C8F152-AB54-432C-8542-BF4C2A3EC153}"/>
              </a:ext>
            </a:extLst>
          </p:cNvPr>
          <p:cNvSpPr/>
          <p:nvPr/>
        </p:nvSpPr>
        <p:spPr>
          <a:xfrm>
            <a:off x="7903102" y="4079974"/>
            <a:ext cx="2952666" cy="2047871"/>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External rewards are required</a:t>
            </a:r>
          </a:p>
        </p:txBody>
      </p:sp>
    </p:spTree>
    <p:extLst>
      <p:ext uri="{BB962C8B-B14F-4D97-AF65-F5344CB8AC3E}">
        <p14:creationId xmlns:p14="http://schemas.microsoft.com/office/powerpoint/2010/main" val="15322227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p:txBody>
          <a:bodyPr>
            <a:noAutofit/>
          </a:bodyPr>
          <a:lstStyle/>
          <a:p>
            <a:r>
              <a:rPr lang="en-GB" sz="5400" b="1" dirty="0"/>
              <a:t>Extrinsic Motivation: Pros and Cons</a:t>
            </a:r>
          </a:p>
        </p:txBody>
      </p:sp>
      <p:sp>
        <p:nvSpPr>
          <p:cNvPr id="2" name="Content Placeholder 1">
            <a:extLst>
              <a:ext uri="{FF2B5EF4-FFF2-40B4-BE49-F238E27FC236}">
                <a16:creationId xmlns:a16="http://schemas.microsoft.com/office/drawing/2014/main" id="{D6FE7A85-ECA6-424A-9F23-AC734FA07C76}"/>
              </a:ext>
            </a:extLst>
          </p:cNvPr>
          <p:cNvSpPr>
            <a:spLocks noGrp="1"/>
          </p:cNvSpPr>
          <p:nvPr>
            <p:ph sz="half" idx="1"/>
          </p:nvPr>
        </p:nvSpPr>
        <p:spPr/>
        <p:txBody>
          <a:bodyPr>
            <a:normAutofit lnSpcReduction="10000"/>
          </a:bodyPr>
          <a:lstStyle/>
          <a:p>
            <a:pPr marL="0" indent="0">
              <a:buNone/>
            </a:pPr>
            <a:r>
              <a:rPr lang="en-GB" sz="4000" dirty="0"/>
              <a:t>Extrinsic Pros: </a:t>
            </a:r>
          </a:p>
          <a:p>
            <a:r>
              <a:rPr lang="en-GB" sz="3200" dirty="0"/>
              <a:t>Immediate rewards/gratification</a:t>
            </a:r>
          </a:p>
          <a:p>
            <a:r>
              <a:rPr lang="en-GB" sz="3200" dirty="0"/>
              <a:t>Clear Goals</a:t>
            </a:r>
          </a:p>
          <a:p>
            <a:r>
              <a:rPr lang="en-GB" sz="3200" dirty="0"/>
              <a:t>Encourages competition</a:t>
            </a:r>
          </a:p>
          <a:p>
            <a:r>
              <a:rPr lang="en-GB" sz="3200" dirty="0"/>
              <a:t>Boosts performance on repetitive tasks</a:t>
            </a:r>
          </a:p>
          <a:p>
            <a:endParaRPr lang="en-GB" dirty="0"/>
          </a:p>
        </p:txBody>
      </p:sp>
      <p:sp>
        <p:nvSpPr>
          <p:cNvPr id="3" name="Content Placeholder 2">
            <a:extLst>
              <a:ext uri="{FF2B5EF4-FFF2-40B4-BE49-F238E27FC236}">
                <a16:creationId xmlns:a16="http://schemas.microsoft.com/office/drawing/2014/main" id="{7892E58F-B303-4A8D-BD4F-5C2C9F8C4147}"/>
              </a:ext>
            </a:extLst>
          </p:cNvPr>
          <p:cNvSpPr>
            <a:spLocks noGrp="1"/>
          </p:cNvSpPr>
          <p:nvPr>
            <p:ph sz="half" idx="2"/>
          </p:nvPr>
        </p:nvSpPr>
        <p:spPr/>
        <p:txBody>
          <a:bodyPr>
            <a:normAutofit lnSpcReduction="10000"/>
          </a:bodyPr>
          <a:lstStyle/>
          <a:p>
            <a:pPr marL="0" indent="0">
              <a:buNone/>
            </a:pPr>
            <a:r>
              <a:rPr lang="en-GB" sz="4000" dirty="0"/>
              <a:t>Extrinsic Cons</a:t>
            </a:r>
            <a:r>
              <a:rPr lang="en-GB" sz="3200" dirty="0"/>
              <a:t>: </a:t>
            </a:r>
          </a:p>
          <a:p>
            <a:r>
              <a:rPr lang="en-GB" sz="3200" dirty="0"/>
              <a:t>Short-lived gains</a:t>
            </a:r>
          </a:p>
          <a:p>
            <a:r>
              <a:rPr lang="en-GB" sz="3200" dirty="0"/>
              <a:t>Dependence on rewards</a:t>
            </a:r>
          </a:p>
          <a:p>
            <a:r>
              <a:rPr lang="en-GB" sz="3200" dirty="0"/>
              <a:t>Reduced satisfaction</a:t>
            </a:r>
          </a:p>
          <a:p>
            <a:r>
              <a:rPr lang="en-GB" sz="3200" dirty="0"/>
              <a:t>Can increase stress</a:t>
            </a:r>
          </a:p>
          <a:p>
            <a:r>
              <a:rPr lang="en-GB" sz="3200" dirty="0"/>
              <a:t>Can engender unethical behaviour</a:t>
            </a:r>
          </a:p>
          <a:p>
            <a:r>
              <a:rPr lang="en-GB" sz="3200" dirty="0"/>
              <a:t>Focus on outcomes</a:t>
            </a:r>
          </a:p>
          <a:p>
            <a:endParaRPr lang="en-GB" dirty="0"/>
          </a:p>
        </p:txBody>
      </p:sp>
    </p:spTree>
    <p:extLst>
      <p:ext uri="{BB962C8B-B14F-4D97-AF65-F5344CB8AC3E}">
        <p14:creationId xmlns:p14="http://schemas.microsoft.com/office/powerpoint/2010/main" val="3130883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 calcmode="lin" valueType="num">
                                      <p:cBhvr additive="base">
                                        <p:cTn id="2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0" end="0"/>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 calcmode="lin" valueType="num">
                                      <p:cBhvr additive="base">
                                        <p:cTn id="3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 calcmode="lin" valueType="num">
                                      <p:cBhvr additive="base">
                                        <p:cTn id="3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additive="base">
                                        <p:cTn id="4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 calcmode="lin" valueType="num">
                                      <p:cBhvr additive="base">
                                        <p:cTn id="4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 calcmode="lin" valueType="num">
                                      <p:cBhvr additive="base">
                                        <p:cTn id="5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365125"/>
            <a:ext cx="11035553" cy="1325563"/>
          </a:xfrm>
        </p:spPr>
        <p:txBody>
          <a:bodyPr>
            <a:noAutofit/>
          </a:bodyPr>
          <a:lstStyle/>
          <a:p>
            <a:r>
              <a:rPr lang="en-GB" sz="5400" b="1" dirty="0"/>
              <a:t>Amotivation</a:t>
            </a:r>
          </a:p>
        </p:txBody>
      </p:sp>
      <p:sp>
        <p:nvSpPr>
          <p:cNvPr id="10" name="Content Placeholder 9">
            <a:extLst>
              <a:ext uri="{FF2B5EF4-FFF2-40B4-BE49-F238E27FC236}">
                <a16:creationId xmlns:a16="http://schemas.microsoft.com/office/drawing/2014/main" id="{00C6F9A3-D887-41AA-8709-CD5A23E8E5D4}"/>
              </a:ext>
            </a:extLst>
          </p:cNvPr>
          <p:cNvSpPr>
            <a:spLocks noGrp="1"/>
          </p:cNvSpPr>
          <p:nvPr>
            <p:ph idx="1"/>
          </p:nvPr>
        </p:nvSpPr>
        <p:spPr>
          <a:xfrm>
            <a:off x="838199" y="1825625"/>
            <a:ext cx="10995213" cy="1325563"/>
          </a:xfrm>
        </p:spPr>
        <p:txBody>
          <a:bodyPr>
            <a:normAutofit/>
          </a:bodyPr>
          <a:lstStyle/>
          <a:p>
            <a:pPr marL="0" indent="0">
              <a:lnSpc>
                <a:spcPct val="100000"/>
              </a:lnSpc>
              <a:buNone/>
            </a:pPr>
            <a:r>
              <a:rPr lang="en-GB" sz="3600" dirty="0"/>
              <a:t>If you are in a state of amotivation you are likely to lack motivation to engage in an activity or pursue a goal</a:t>
            </a:r>
          </a:p>
          <a:p>
            <a:pPr marL="0" indent="0">
              <a:lnSpc>
                <a:spcPct val="100000"/>
              </a:lnSpc>
              <a:buNone/>
            </a:pPr>
            <a:endParaRPr lang="en-GB" sz="3600" dirty="0"/>
          </a:p>
          <a:p>
            <a:pPr marL="0" indent="0">
              <a:lnSpc>
                <a:spcPct val="100000"/>
              </a:lnSpc>
              <a:buNone/>
            </a:pPr>
            <a:endParaRPr lang="en-GB" sz="5400" dirty="0"/>
          </a:p>
          <a:p>
            <a:pPr marL="0" indent="0">
              <a:buNone/>
            </a:pPr>
            <a:endParaRPr lang="en-GB" dirty="0"/>
          </a:p>
        </p:txBody>
      </p:sp>
      <p:sp>
        <p:nvSpPr>
          <p:cNvPr id="2" name="TextBox 1">
            <a:extLst>
              <a:ext uri="{FF2B5EF4-FFF2-40B4-BE49-F238E27FC236}">
                <a16:creationId xmlns:a16="http://schemas.microsoft.com/office/drawing/2014/main" id="{F6461C49-8AEF-495A-BAC2-FAEBE067A3C7}"/>
              </a:ext>
            </a:extLst>
          </p:cNvPr>
          <p:cNvSpPr txBox="1"/>
          <p:nvPr/>
        </p:nvSpPr>
        <p:spPr>
          <a:xfrm>
            <a:off x="797859" y="2943991"/>
            <a:ext cx="11035553" cy="2308324"/>
          </a:xfrm>
          <a:prstGeom prst="rect">
            <a:avLst/>
          </a:prstGeom>
          <a:noFill/>
        </p:spPr>
        <p:txBody>
          <a:bodyPr wrap="square" numCol="2" rtlCol="0">
            <a:spAutoFit/>
          </a:bodyPr>
          <a:lstStyle/>
          <a:p>
            <a:r>
              <a:rPr lang="en-GB" sz="3600" dirty="0"/>
              <a:t>You might experience:</a:t>
            </a:r>
          </a:p>
          <a:p>
            <a:pPr marL="571500" indent="-571500">
              <a:buFont typeface="Arial" panose="020B0604020202020204" pitchFamily="34" charset="0"/>
              <a:buChar char="•"/>
            </a:pPr>
            <a:r>
              <a:rPr lang="en-GB" sz="3600" dirty="0"/>
              <a:t>apathy for studying</a:t>
            </a:r>
          </a:p>
          <a:p>
            <a:pPr marL="571500" indent="-571500">
              <a:buFont typeface="Arial" panose="020B0604020202020204" pitchFamily="34" charset="0"/>
              <a:buChar char="•"/>
            </a:pPr>
            <a:r>
              <a:rPr lang="en-GB" sz="3600" dirty="0"/>
              <a:t>absences from classes</a:t>
            </a:r>
          </a:p>
          <a:p>
            <a:pPr marL="571500" indent="-571500">
              <a:buFont typeface="Arial" panose="020B0604020202020204" pitchFamily="34" charset="0"/>
              <a:buChar char="•"/>
            </a:pPr>
            <a:r>
              <a:rPr lang="en-GB" sz="3600" dirty="0"/>
              <a:t>lack of effort or drive</a:t>
            </a:r>
          </a:p>
          <a:p>
            <a:pPr marL="571500" indent="-571500">
              <a:buFont typeface="Arial" panose="020B0604020202020204" pitchFamily="34" charset="0"/>
              <a:buChar char="•"/>
            </a:pPr>
            <a:r>
              <a:rPr lang="en-GB" sz="3600" dirty="0"/>
              <a:t>perceived lack of control </a:t>
            </a:r>
          </a:p>
          <a:p>
            <a:pPr marL="571500" indent="-571500">
              <a:buFont typeface="Arial" panose="020B0604020202020204" pitchFamily="34" charset="0"/>
              <a:buChar char="•"/>
            </a:pPr>
            <a:r>
              <a:rPr lang="en-GB" sz="3600" dirty="0"/>
              <a:t>lack of value for the activity</a:t>
            </a:r>
          </a:p>
          <a:p>
            <a:pPr marL="571500" indent="-571500">
              <a:buFont typeface="Arial" panose="020B0604020202020204" pitchFamily="34" charset="0"/>
              <a:buChar char="•"/>
            </a:pPr>
            <a:r>
              <a:rPr lang="en-GB" sz="3600" dirty="0"/>
              <a:t>feeling lost or alone</a:t>
            </a:r>
          </a:p>
        </p:txBody>
      </p:sp>
      <p:sp>
        <p:nvSpPr>
          <p:cNvPr id="3" name="Content Placeholder 9">
            <a:extLst>
              <a:ext uri="{FF2B5EF4-FFF2-40B4-BE49-F238E27FC236}">
                <a16:creationId xmlns:a16="http://schemas.microsoft.com/office/drawing/2014/main" id="{8A7D1EEC-211B-CEE2-1209-43EAE331290D}"/>
              </a:ext>
            </a:extLst>
          </p:cNvPr>
          <p:cNvSpPr txBox="1">
            <a:spLocks/>
          </p:cNvSpPr>
          <p:nvPr/>
        </p:nvSpPr>
        <p:spPr>
          <a:xfrm>
            <a:off x="1015651" y="5256621"/>
            <a:ext cx="10995213"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3600" b="1" dirty="0"/>
              <a:t>Most of us will experience amotivation at some time!</a:t>
            </a:r>
          </a:p>
          <a:p>
            <a:pPr marL="0" indent="0">
              <a:lnSpc>
                <a:spcPct val="100000"/>
              </a:lnSpc>
              <a:buFont typeface="Arial" panose="020B0604020202020204" pitchFamily="34" charset="0"/>
              <a:buNone/>
            </a:pPr>
            <a:endParaRPr lang="en-GB" sz="3600" dirty="0"/>
          </a:p>
          <a:p>
            <a:pPr marL="0" indent="0">
              <a:lnSpc>
                <a:spcPct val="100000"/>
              </a:lnSpc>
              <a:buFont typeface="Arial" panose="020B0604020202020204" pitchFamily="34" charset="0"/>
              <a:buNone/>
            </a:pPr>
            <a:endParaRPr lang="en-GB" sz="5400" dirty="0"/>
          </a:p>
          <a:p>
            <a:pPr marL="0" indent="0">
              <a:buFont typeface="Arial" panose="020B0604020202020204" pitchFamily="34" charset="0"/>
              <a:buNone/>
            </a:pPr>
            <a:endParaRPr lang="en-GB" dirty="0"/>
          </a:p>
        </p:txBody>
      </p:sp>
    </p:spTree>
    <p:extLst>
      <p:ext uri="{BB962C8B-B14F-4D97-AF65-F5344CB8AC3E}">
        <p14:creationId xmlns:p14="http://schemas.microsoft.com/office/powerpoint/2010/main" val="2275934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2</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1849929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
        <p:nvSpPr>
          <p:cNvPr id="9" name="Title 8">
            <a:extLst>
              <a:ext uri="{FF2B5EF4-FFF2-40B4-BE49-F238E27FC236}">
                <a16:creationId xmlns:a16="http://schemas.microsoft.com/office/drawing/2014/main" id="{6E81E20A-6B1D-4510-829F-7A9501A5B31C}"/>
              </a:ext>
            </a:extLst>
          </p:cNvPr>
          <p:cNvSpPr>
            <a:spLocks noGrp="1"/>
          </p:cNvSpPr>
          <p:nvPr>
            <p:ph type="title"/>
          </p:nvPr>
        </p:nvSpPr>
        <p:spPr>
          <a:xfrm>
            <a:off x="838199" y="403498"/>
            <a:ext cx="11035553" cy="1325563"/>
          </a:xfrm>
        </p:spPr>
        <p:txBody>
          <a:bodyPr>
            <a:noAutofit/>
          </a:bodyPr>
          <a:lstStyle/>
          <a:p>
            <a:r>
              <a:rPr lang="en-GB" sz="5400" b="1" dirty="0"/>
              <a:t>Positive Impact of Goals in Motivation</a:t>
            </a:r>
          </a:p>
        </p:txBody>
      </p:sp>
      <p:sp>
        <p:nvSpPr>
          <p:cNvPr id="8" name="Rectangle: Rounded Corners 7">
            <a:extLst>
              <a:ext uri="{FF2B5EF4-FFF2-40B4-BE49-F238E27FC236}">
                <a16:creationId xmlns:a16="http://schemas.microsoft.com/office/drawing/2014/main" id="{227F25B7-B858-4C1A-BA39-BA05DC43F7B3}"/>
              </a:ext>
            </a:extLst>
          </p:cNvPr>
          <p:cNvSpPr/>
          <p:nvPr/>
        </p:nvSpPr>
        <p:spPr>
          <a:xfrm>
            <a:off x="318248" y="1450594"/>
            <a:ext cx="2707006" cy="928754"/>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Clarity</a:t>
            </a:r>
          </a:p>
        </p:txBody>
      </p:sp>
      <p:sp>
        <p:nvSpPr>
          <p:cNvPr id="5" name="Rectangle: Rounded Corners 4">
            <a:extLst>
              <a:ext uri="{FF2B5EF4-FFF2-40B4-BE49-F238E27FC236}">
                <a16:creationId xmlns:a16="http://schemas.microsoft.com/office/drawing/2014/main" id="{C799588E-3CB8-402E-9D39-0DF648C6C5F6}"/>
              </a:ext>
            </a:extLst>
          </p:cNvPr>
          <p:cNvSpPr/>
          <p:nvPr/>
        </p:nvSpPr>
        <p:spPr>
          <a:xfrm>
            <a:off x="1082936" y="2804186"/>
            <a:ext cx="2707006" cy="928754"/>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Prioritisation</a:t>
            </a:r>
          </a:p>
        </p:txBody>
      </p:sp>
      <p:sp>
        <p:nvSpPr>
          <p:cNvPr id="6" name="Rectangle: Rounded Corners 5">
            <a:extLst>
              <a:ext uri="{FF2B5EF4-FFF2-40B4-BE49-F238E27FC236}">
                <a16:creationId xmlns:a16="http://schemas.microsoft.com/office/drawing/2014/main" id="{A75D5393-C1AB-413A-A56C-34CD34E23196}"/>
              </a:ext>
            </a:extLst>
          </p:cNvPr>
          <p:cNvSpPr/>
          <p:nvPr/>
        </p:nvSpPr>
        <p:spPr>
          <a:xfrm>
            <a:off x="3377000" y="1465476"/>
            <a:ext cx="2707006" cy="928754"/>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Purpose</a:t>
            </a:r>
          </a:p>
        </p:txBody>
      </p:sp>
      <p:sp>
        <p:nvSpPr>
          <p:cNvPr id="10" name="Rectangle: Rounded Corners 9">
            <a:extLst>
              <a:ext uri="{FF2B5EF4-FFF2-40B4-BE49-F238E27FC236}">
                <a16:creationId xmlns:a16="http://schemas.microsoft.com/office/drawing/2014/main" id="{A77B4019-FC18-4111-A225-D641CB70D0BE}"/>
              </a:ext>
            </a:extLst>
          </p:cNvPr>
          <p:cNvSpPr/>
          <p:nvPr/>
        </p:nvSpPr>
        <p:spPr>
          <a:xfrm>
            <a:off x="4141688" y="2810725"/>
            <a:ext cx="2707006" cy="928754"/>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Track Progress</a:t>
            </a:r>
          </a:p>
        </p:txBody>
      </p:sp>
      <p:sp>
        <p:nvSpPr>
          <p:cNvPr id="11" name="Rectangle: Rounded Corners 10">
            <a:extLst>
              <a:ext uri="{FF2B5EF4-FFF2-40B4-BE49-F238E27FC236}">
                <a16:creationId xmlns:a16="http://schemas.microsoft.com/office/drawing/2014/main" id="{EBBCFA70-5ABB-4399-B445-16D18530CBF1}"/>
              </a:ext>
            </a:extLst>
          </p:cNvPr>
          <p:cNvSpPr/>
          <p:nvPr/>
        </p:nvSpPr>
        <p:spPr>
          <a:xfrm>
            <a:off x="6435752" y="1450594"/>
            <a:ext cx="2707006" cy="928754"/>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Commitment</a:t>
            </a:r>
          </a:p>
        </p:txBody>
      </p:sp>
      <p:sp>
        <p:nvSpPr>
          <p:cNvPr id="12" name="Rectangle: Rounded Corners 11">
            <a:extLst>
              <a:ext uri="{FF2B5EF4-FFF2-40B4-BE49-F238E27FC236}">
                <a16:creationId xmlns:a16="http://schemas.microsoft.com/office/drawing/2014/main" id="{19C8F152-AB54-432C-8542-BF4C2A3EC153}"/>
              </a:ext>
            </a:extLst>
          </p:cNvPr>
          <p:cNvSpPr/>
          <p:nvPr/>
        </p:nvSpPr>
        <p:spPr>
          <a:xfrm>
            <a:off x="7200440" y="2810725"/>
            <a:ext cx="2707006" cy="928754"/>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Challenges</a:t>
            </a:r>
          </a:p>
        </p:txBody>
      </p:sp>
      <p:sp>
        <p:nvSpPr>
          <p:cNvPr id="13" name="Rectangle: Rounded Corners 12">
            <a:extLst>
              <a:ext uri="{FF2B5EF4-FFF2-40B4-BE49-F238E27FC236}">
                <a16:creationId xmlns:a16="http://schemas.microsoft.com/office/drawing/2014/main" id="{62EF654B-293B-4959-84D8-5DCD12CA406D}"/>
              </a:ext>
            </a:extLst>
          </p:cNvPr>
          <p:cNvSpPr/>
          <p:nvPr/>
        </p:nvSpPr>
        <p:spPr>
          <a:xfrm>
            <a:off x="1847624" y="4022481"/>
            <a:ext cx="2707006" cy="928754"/>
          </a:xfrm>
          <a:prstGeom prst="roundRect">
            <a:avLst/>
          </a:prstGeom>
          <a:solidFill>
            <a:srgbClr val="001532"/>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Long-Term Vision</a:t>
            </a:r>
          </a:p>
        </p:txBody>
      </p:sp>
      <p:sp>
        <p:nvSpPr>
          <p:cNvPr id="14" name="Rectangle: Rounded Corners 13">
            <a:extLst>
              <a:ext uri="{FF2B5EF4-FFF2-40B4-BE49-F238E27FC236}">
                <a16:creationId xmlns:a16="http://schemas.microsoft.com/office/drawing/2014/main" id="{F2F43D51-3886-41AD-B8CB-B08C57246608}"/>
              </a:ext>
            </a:extLst>
          </p:cNvPr>
          <p:cNvSpPr/>
          <p:nvPr/>
        </p:nvSpPr>
        <p:spPr>
          <a:xfrm>
            <a:off x="2612312" y="5376073"/>
            <a:ext cx="2707006" cy="928754"/>
          </a:xfrm>
          <a:prstGeom prst="roundRect">
            <a:avLst/>
          </a:prstGeom>
          <a:solidFill>
            <a:srgbClr val="265D93"/>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Feedback</a:t>
            </a:r>
          </a:p>
        </p:txBody>
      </p:sp>
      <p:sp>
        <p:nvSpPr>
          <p:cNvPr id="15" name="Rectangle: Rounded Corners 14">
            <a:extLst>
              <a:ext uri="{FF2B5EF4-FFF2-40B4-BE49-F238E27FC236}">
                <a16:creationId xmlns:a16="http://schemas.microsoft.com/office/drawing/2014/main" id="{685436B5-9D26-45B3-A950-F7E0A2819B1F}"/>
              </a:ext>
            </a:extLst>
          </p:cNvPr>
          <p:cNvSpPr/>
          <p:nvPr/>
        </p:nvSpPr>
        <p:spPr>
          <a:xfrm>
            <a:off x="4906376" y="4037363"/>
            <a:ext cx="2707006" cy="928754"/>
          </a:xfrm>
          <a:prstGeom prst="roundRect">
            <a:avLst/>
          </a:prstGeom>
          <a:solidFill>
            <a:srgbClr val="599795"/>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Resilience</a:t>
            </a:r>
          </a:p>
        </p:txBody>
      </p:sp>
      <p:sp>
        <p:nvSpPr>
          <p:cNvPr id="16" name="Rectangle: Rounded Corners 15">
            <a:extLst>
              <a:ext uri="{FF2B5EF4-FFF2-40B4-BE49-F238E27FC236}">
                <a16:creationId xmlns:a16="http://schemas.microsoft.com/office/drawing/2014/main" id="{A5A51897-20D5-4439-8BE4-CD7D91E3ED00}"/>
              </a:ext>
            </a:extLst>
          </p:cNvPr>
          <p:cNvSpPr/>
          <p:nvPr/>
        </p:nvSpPr>
        <p:spPr>
          <a:xfrm>
            <a:off x="5671064" y="5382612"/>
            <a:ext cx="2707006" cy="928754"/>
          </a:xfrm>
          <a:prstGeom prst="roundRect">
            <a:avLst/>
          </a:prstGeom>
          <a:solidFill>
            <a:srgbClr val="8CB65D"/>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Satisfaction</a:t>
            </a:r>
          </a:p>
        </p:txBody>
      </p:sp>
      <p:sp>
        <p:nvSpPr>
          <p:cNvPr id="17" name="Rectangle: Rounded Corners 16">
            <a:extLst>
              <a:ext uri="{FF2B5EF4-FFF2-40B4-BE49-F238E27FC236}">
                <a16:creationId xmlns:a16="http://schemas.microsoft.com/office/drawing/2014/main" id="{E17365CC-0F84-4C90-B633-4A832EB02737}"/>
              </a:ext>
            </a:extLst>
          </p:cNvPr>
          <p:cNvSpPr/>
          <p:nvPr/>
        </p:nvSpPr>
        <p:spPr>
          <a:xfrm>
            <a:off x="7965128" y="4022481"/>
            <a:ext cx="2707006" cy="928754"/>
          </a:xfrm>
          <a:prstGeom prst="roundRect">
            <a:avLst/>
          </a:prstGeom>
          <a:solidFill>
            <a:srgbClr val="C34E56"/>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Achievement</a:t>
            </a:r>
          </a:p>
        </p:txBody>
      </p:sp>
      <p:sp>
        <p:nvSpPr>
          <p:cNvPr id="18" name="Rectangle: Rounded Corners 17">
            <a:extLst>
              <a:ext uri="{FF2B5EF4-FFF2-40B4-BE49-F238E27FC236}">
                <a16:creationId xmlns:a16="http://schemas.microsoft.com/office/drawing/2014/main" id="{EB07E9BC-83B6-4F5C-9572-00A04E7D7665}"/>
              </a:ext>
            </a:extLst>
          </p:cNvPr>
          <p:cNvSpPr/>
          <p:nvPr/>
        </p:nvSpPr>
        <p:spPr>
          <a:xfrm>
            <a:off x="8729818" y="5382612"/>
            <a:ext cx="2707006" cy="928754"/>
          </a:xfrm>
          <a:prstGeom prst="roundRect">
            <a:avLst/>
          </a:prstGeom>
          <a:solidFill>
            <a:srgbClr val="D8E301"/>
          </a:solidFill>
          <a:ln>
            <a:solidFill>
              <a:srgbClr val="265D9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dirty="0">
                <a:effectLst>
                  <a:outerShdw blurRad="38100" dist="38100" dir="2700000" algn="tl">
                    <a:srgbClr val="000000">
                      <a:alpha val="43137"/>
                    </a:srgbClr>
                  </a:outerShdw>
                </a:effectLst>
              </a:rPr>
              <a:t>Self-Discipline</a:t>
            </a:r>
          </a:p>
        </p:txBody>
      </p:sp>
    </p:spTree>
    <p:extLst>
      <p:ext uri="{BB962C8B-B14F-4D97-AF65-F5344CB8AC3E}">
        <p14:creationId xmlns:p14="http://schemas.microsoft.com/office/powerpoint/2010/main" val="1251319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1617280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Activity 3</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2073356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DAEA1-A082-4E34-99B2-D439B5392380}"/>
              </a:ext>
            </a:extLst>
          </p:cNvPr>
          <p:cNvSpPr>
            <a:spLocks noGrp="1"/>
          </p:cNvSpPr>
          <p:nvPr>
            <p:ph type="ctrTitle"/>
          </p:nvPr>
        </p:nvSpPr>
        <p:spPr>
          <a:xfrm>
            <a:off x="349624" y="2235200"/>
            <a:ext cx="11510682" cy="2387600"/>
          </a:xfrm>
        </p:spPr>
        <p:txBody>
          <a:bodyPr>
            <a:normAutofit/>
          </a:bodyPr>
          <a:lstStyle/>
          <a:p>
            <a:r>
              <a:rPr lang="en-GB" sz="8800" dirty="0"/>
              <a:t>Discussion</a:t>
            </a:r>
            <a:endParaRPr lang="en-GB" sz="8800" b="1" dirty="0"/>
          </a:p>
        </p:txBody>
      </p:sp>
      <p:pic>
        <p:nvPicPr>
          <p:cNvPr id="7" name="Picture 6">
            <a:extLst>
              <a:ext uri="{FF2B5EF4-FFF2-40B4-BE49-F238E27FC236}">
                <a16:creationId xmlns:a16="http://schemas.microsoft.com/office/drawing/2014/main" id="{69D316C8-3288-4636-90EE-AC2CB90FE612}"/>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05619"/>
            <a:ext cx="12192000" cy="352381"/>
          </a:xfrm>
          <a:prstGeom prst="rect">
            <a:avLst/>
          </a:prstGeom>
        </p:spPr>
      </p:pic>
    </p:spTree>
    <p:extLst>
      <p:ext uri="{BB962C8B-B14F-4D97-AF65-F5344CB8AC3E}">
        <p14:creationId xmlns:p14="http://schemas.microsoft.com/office/powerpoint/2010/main" val="3829738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TotalTime>
  <Words>582</Words>
  <Application>Microsoft Office PowerPoint</Application>
  <PresentationFormat>Widescreen</PresentationFormat>
  <Paragraphs>136</Paragraphs>
  <Slides>22</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Building the Foundations of Success: Academic Motivation</vt:lpstr>
      <vt:lpstr>Agenda</vt:lpstr>
      <vt:lpstr>Course Overview – Student Engagement</vt:lpstr>
      <vt:lpstr>Course Overview – Student Engagement</vt:lpstr>
      <vt:lpstr>Course Overview – Key Points</vt:lpstr>
      <vt:lpstr>Academic Motivation</vt:lpstr>
      <vt:lpstr>Understanding Your Academic Motivation</vt:lpstr>
      <vt:lpstr>Activity 1</vt:lpstr>
      <vt:lpstr>Why do you want to study your chosen subject?</vt:lpstr>
      <vt:lpstr>Discussion</vt:lpstr>
      <vt:lpstr>Importance of Academic Motivation</vt:lpstr>
      <vt:lpstr>Types of Academic Motivation</vt:lpstr>
      <vt:lpstr>Intrinsic Motivation</vt:lpstr>
      <vt:lpstr>Intrinsic Motivation: Pros and Cons</vt:lpstr>
      <vt:lpstr>Extrinsic Motivation</vt:lpstr>
      <vt:lpstr>Extrinsic Motivation: Pros and Cons</vt:lpstr>
      <vt:lpstr>Amotivation</vt:lpstr>
      <vt:lpstr>Activity 2</vt:lpstr>
      <vt:lpstr>Positive Impact of Goals in Motivation</vt:lpstr>
      <vt:lpstr>Discussion</vt:lpstr>
      <vt:lpstr>Activity 3</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Motivation</dc:title>
  <dc:creator>Glen Pennington</dc:creator>
  <cp:lastModifiedBy>Glen Pennington</cp:lastModifiedBy>
  <cp:revision>24</cp:revision>
  <dcterms:created xsi:type="dcterms:W3CDTF">2024-09-02T13:40:42Z</dcterms:created>
  <dcterms:modified xsi:type="dcterms:W3CDTF">2024-09-12T11:22:41Z</dcterms:modified>
</cp:coreProperties>
</file>