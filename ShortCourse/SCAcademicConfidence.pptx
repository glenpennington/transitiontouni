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61" r:id="rId4"/>
    <p:sldId id="258" r:id="rId5"/>
    <p:sldId id="271" r:id="rId6"/>
    <p:sldId id="263" r:id="rId7"/>
    <p:sldId id="260" r:id="rId8"/>
    <p:sldId id="273" r:id="rId9"/>
    <p:sldId id="270" r:id="rId10"/>
    <p:sldId id="275" r:id="rId11"/>
    <p:sldId id="264" r:id="rId12"/>
    <p:sldId id="262" r:id="rId13"/>
    <p:sldId id="276" r:id="rId14"/>
    <p:sldId id="274" r:id="rId15"/>
    <p:sldId id="277" r:id="rId16"/>
    <p:sldId id="278" r:id="rId17"/>
    <p:sldId id="280" r:id="rId18"/>
    <p:sldId id="279" r:id="rId19"/>
    <p:sldId id="28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1532"/>
    <a:srgbClr val="265D93"/>
    <a:srgbClr val="D8E301"/>
    <a:srgbClr val="C34E56"/>
    <a:srgbClr val="8CB65D"/>
    <a:srgbClr val="5997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67259" autoAdjust="0"/>
  </p:normalViewPr>
  <p:slideViewPr>
    <p:cSldViewPr snapToGrid="0" showGuides="1">
      <p:cViewPr varScale="1">
        <p:scale>
          <a:sx n="52" d="100"/>
          <a:sy n="52" d="100"/>
        </p:scale>
        <p:origin x="1776" y="53"/>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F18783-81CF-438C-A241-3630B1A77772}" type="datetimeFigureOut">
              <a:rPr lang="en-GB" smtClean="0"/>
              <a:t>12/09/2024</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8497FD-4BB8-4933-A7AC-0A33F9B9929E}" type="slidenum">
              <a:rPr lang="en-GB" smtClean="0"/>
              <a:t>‹#›</a:t>
            </a:fld>
            <a:endParaRPr lang="en-GB" dirty="0"/>
          </a:p>
        </p:txBody>
      </p:sp>
    </p:spTree>
    <p:extLst>
      <p:ext uri="{BB962C8B-B14F-4D97-AF65-F5344CB8AC3E}">
        <p14:creationId xmlns:p14="http://schemas.microsoft.com/office/powerpoint/2010/main" val="3216951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ts val="500"/>
              </a:spcBef>
              <a:spcAft>
                <a:spcPts val="1000"/>
              </a:spcAft>
            </a:pPr>
            <a:endParaRPr lang="en-GB" sz="1800" dirty="0">
              <a:effectLst/>
              <a:latin typeface="Tw Cen MT" panose="020B0602020104020603"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9F8497FD-4BB8-4933-A7AC-0A33F9B9929E}" type="slidenum">
              <a:rPr lang="en-GB" smtClean="0"/>
              <a:t>3</a:t>
            </a:fld>
            <a:endParaRPr lang="en-GB" dirty="0"/>
          </a:p>
        </p:txBody>
      </p:sp>
    </p:spTree>
    <p:extLst>
      <p:ext uri="{BB962C8B-B14F-4D97-AF65-F5344CB8AC3E}">
        <p14:creationId xmlns:p14="http://schemas.microsoft.com/office/powerpoint/2010/main" val="1877695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4</a:t>
            </a:fld>
            <a:endParaRPr lang="en-GB" dirty="0"/>
          </a:p>
        </p:txBody>
      </p:sp>
    </p:spTree>
    <p:extLst>
      <p:ext uri="{BB962C8B-B14F-4D97-AF65-F5344CB8AC3E}">
        <p14:creationId xmlns:p14="http://schemas.microsoft.com/office/powerpoint/2010/main" val="3715407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5</a:t>
            </a:fld>
            <a:endParaRPr lang="en-GB"/>
          </a:p>
        </p:txBody>
      </p:sp>
    </p:spTree>
    <p:extLst>
      <p:ext uri="{BB962C8B-B14F-4D97-AF65-F5344CB8AC3E}">
        <p14:creationId xmlns:p14="http://schemas.microsoft.com/office/powerpoint/2010/main" val="20739652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https://www.menti.com/alewpcep3sbz </a:t>
            </a:r>
            <a:r>
              <a:rPr lang="en-GB" dirty="0"/>
              <a:t>Here I want you to reflect on the factors that have influenced your academic confidence so far. You can be free to write whatever you want, but this exercise will be most useful if you are prepared to discuss your influencing factors as you can think about this in your reflective piece and expand on it in the discussion.</a:t>
            </a:r>
          </a:p>
        </p:txBody>
      </p:sp>
      <p:sp>
        <p:nvSpPr>
          <p:cNvPr id="4" name="Slide Number Placeholder 3"/>
          <p:cNvSpPr>
            <a:spLocks noGrp="1"/>
          </p:cNvSpPr>
          <p:nvPr>
            <p:ph type="sldNum" sz="quarter" idx="5"/>
          </p:nvPr>
        </p:nvSpPr>
        <p:spPr/>
        <p:txBody>
          <a:bodyPr/>
          <a:lstStyle/>
          <a:p>
            <a:fld id="{9F8497FD-4BB8-4933-A7AC-0A33F9B9929E}" type="slidenum">
              <a:rPr lang="en-GB" smtClean="0"/>
              <a:t>7</a:t>
            </a:fld>
            <a:endParaRPr lang="en-GB"/>
          </a:p>
        </p:txBody>
      </p:sp>
    </p:spTree>
    <p:extLst>
      <p:ext uri="{BB962C8B-B14F-4D97-AF65-F5344CB8AC3E}">
        <p14:creationId xmlns:p14="http://schemas.microsoft.com/office/powerpoint/2010/main" val="1534659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8</a:t>
            </a:fld>
            <a:endParaRPr lang="en-GB" dirty="0"/>
          </a:p>
        </p:txBody>
      </p:sp>
    </p:spTree>
    <p:extLst>
      <p:ext uri="{BB962C8B-B14F-4D97-AF65-F5344CB8AC3E}">
        <p14:creationId xmlns:p14="http://schemas.microsoft.com/office/powerpoint/2010/main" val="10351664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Discussion in breakouts </a:t>
            </a:r>
          </a:p>
          <a:p>
            <a:endParaRPr lang="en-GB" dirty="0"/>
          </a:p>
          <a:p>
            <a:r>
              <a:rPr lang="en-GB" sz="1200" kern="1200" dirty="0">
                <a:solidFill>
                  <a:schemeClr val="tx1"/>
                </a:solidFill>
                <a:effectLst/>
                <a:latin typeface="+mn-lt"/>
                <a:ea typeface="+mn-ea"/>
                <a:cs typeface="+mn-cs"/>
              </a:rPr>
              <a:t>In breakout rooms you should discuss commonalities and differences in the factors that have influenced your confidence in your academic studies and how, by using the info in the last slide, you could start to think about those factors differently.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Nominate a group member to feed back to the whole group</a:t>
            </a:r>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9</a:t>
            </a:fld>
            <a:endParaRPr lang="en-GB" dirty="0"/>
          </a:p>
        </p:txBody>
      </p:sp>
    </p:spTree>
    <p:extLst>
      <p:ext uri="{BB962C8B-B14F-4D97-AF65-F5344CB8AC3E}">
        <p14:creationId xmlns:p14="http://schemas.microsoft.com/office/powerpoint/2010/main" val="2228993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11</a:t>
            </a:fld>
            <a:endParaRPr lang="en-GB" dirty="0"/>
          </a:p>
        </p:txBody>
      </p:sp>
    </p:spTree>
    <p:extLst>
      <p:ext uri="{BB962C8B-B14F-4D97-AF65-F5344CB8AC3E}">
        <p14:creationId xmlns:p14="http://schemas.microsoft.com/office/powerpoint/2010/main" val="85077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12</a:t>
            </a:fld>
            <a:endParaRPr lang="en-GB" dirty="0"/>
          </a:p>
        </p:txBody>
      </p:sp>
    </p:spTree>
    <p:extLst>
      <p:ext uri="{BB962C8B-B14F-4D97-AF65-F5344CB8AC3E}">
        <p14:creationId xmlns:p14="http://schemas.microsoft.com/office/powerpoint/2010/main" val="4231884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13</a:t>
            </a:fld>
            <a:endParaRPr lang="en-GB" dirty="0"/>
          </a:p>
        </p:txBody>
      </p:sp>
    </p:spTree>
    <p:extLst>
      <p:ext uri="{BB962C8B-B14F-4D97-AF65-F5344CB8AC3E}">
        <p14:creationId xmlns:p14="http://schemas.microsoft.com/office/powerpoint/2010/main" val="3771502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this activity, the questionnaire will measure your personal Academic Behavioural Confidence </a:t>
            </a:r>
          </a:p>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15</a:t>
            </a:fld>
            <a:endParaRPr lang="en-GB" dirty="0"/>
          </a:p>
        </p:txBody>
      </p:sp>
    </p:spTree>
    <p:extLst>
      <p:ext uri="{BB962C8B-B14F-4D97-AF65-F5344CB8AC3E}">
        <p14:creationId xmlns:p14="http://schemas.microsoft.com/office/powerpoint/2010/main" val="38593261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how do you feel about your scores? </a:t>
            </a:r>
          </a:p>
        </p:txBody>
      </p:sp>
      <p:sp>
        <p:nvSpPr>
          <p:cNvPr id="4" name="Slide Number Placeholder 3"/>
          <p:cNvSpPr>
            <a:spLocks noGrp="1"/>
          </p:cNvSpPr>
          <p:nvPr>
            <p:ph type="sldNum" sz="quarter" idx="5"/>
          </p:nvPr>
        </p:nvSpPr>
        <p:spPr/>
        <p:txBody>
          <a:bodyPr/>
          <a:lstStyle/>
          <a:p>
            <a:fld id="{9F8497FD-4BB8-4933-A7AC-0A33F9B9929E}" type="slidenum">
              <a:rPr lang="en-GB" smtClean="0"/>
              <a:t>16</a:t>
            </a:fld>
            <a:endParaRPr lang="en-GB" dirty="0"/>
          </a:p>
        </p:txBody>
      </p:sp>
    </p:spTree>
    <p:extLst>
      <p:ext uri="{BB962C8B-B14F-4D97-AF65-F5344CB8AC3E}">
        <p14:creationId xmlns:p14="http://schemas.microsoft.com/office/powerpoint/2010/main" val="1511332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18</a:t>
            </a:fld>
            <a:endParaRPr lang="en-GB" dirty="0"/>
          </a:p>
        </p:txBody>
      </p:sp>
    </p:spTree>
    <p:extLst>
      <p:ext uri="{BB962C8B-B14F-4D97-AF65-F5344CB8AC3E}">
        <p14:creationId xmlns:p14="http://schemas.microsoft.com/office/powerpoint/2010/main" val="12613365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how do you feel about your scores? </a:t>
            </a:r>
          </a:p>
        </p:txBody>
      </p:sp>
      <p:sp>
        <p:nvSpPr>
          <p:cNvPr id="4" name="Slide Number Placeholder 3"/>
          <p:cNvSpPr>
            <a:spLocks noGrp="1"/>
          </p:cNvSpPr>
          <p:nvPr>
            <p:ph type="sldNum" sz="quarter" idx="5"/>
          </p:nvPr>
        </p:nvSpPr>
        <p:spPr/>
        <p:txBody>
          <a:bodyPr/>
          <a:lstStyle/>
          <a:p>
            <a:fld id="{9F8497FD-4BB8-4933-A7AC-0A33F9B9929E}" type="slidenum">
              <a:rPr lang="en-GB" smtClean="0"/>
              <a:t>19</a:t>
            </a:fld>
            <a:endParaRPr lang="en-GB" dirty="0"/>
          </a:p>
        </p:txBody>
      </p:sp>
    </p:spTree>
    <p:extLst>
      <p:ext uri="{BB962C8B-B14F-4D97-AF65-F5344CB8AC3E}">
        <p14:creationId xmlns:p14="http://schemas.microsoft.com/office/powerpoint/2010/main" val="1494243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D5537-5F1A-479C-9DAF-5D26771C11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5571076-CB22-4E93-B16C-E3F474FF14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F2029B9-4319-457D-8117-59EE82A7CDB9}"/>
              </a:ext>
            </a:extLst>
          </p:cNvPr>
          <p:cNvSpPr>
            <a:spLocks noGrp="1"/>
          </p:cNvSpPr>
          <p:nvPr>
            <p:ph type="dt" sz="half" idx="10"/>
          </p:nvPr>
        </p:nvSpPr>
        <p:spPr/>
        <p:txBody>
          <a:bodyPr/>
          <a:lstStyle/>
          <a:p>
            <a:fld id="{C4F8C0DC-7841-48EE-8272-2E71B8950332}" type="datetimeFigureOut">
              <a:rPr lang="en-GB" smtClean="0"/>
              <a:t>12/09/2024</a:t>
            </a:fld>
            <a:endParaRPr lang="en-GB" dirty="0"/>
          </a:p>
        </p:txBody>
      </p:sp>
      <p:sp>
        <p:nvSpPr>
          <p:cNvPr id="5" name="Footer Placeholder 4">
            <a:extLst>
              <a:ext uri="{FF2B5EF4-FFF2-40B4-BE49-F238E27FC236}">
                <a16:creationId xmlns:a16="http://schemas.microsoft.com/office/drawing/2014/main" id="{F9E4845B-E394-42A2-A0B9-54D2F3FA19C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4D12AF69-7D41-4FC6-8F1B-0FA0503372A3}"/>
              </a:ext>
            </a:extLst>
          </p:cNvPr>
          <p:cNvSpPr>
            <a:spLocks noGrp="1"/>
          </p:cNvSpPr>
          <p:nvPr>
            <p:ph type="sldNum" sz="quarter" idx="12"/>
          </p:nvPr>
        </p:nvSpPr>
        <p:spPr/>
        <p:txBody>
          <a:bodyPr/>
          <a:lstStyle/>
          <a:p>
            <a:fld id="{5595D00E-7376-49EC-B215-91493CB406BF}" type="slidenum">
              <a:rPr lang="en-GB" smtClean="0"/>
              <a:t>‹#›</a:t>
            </a:fld>
            <a:endParaRPr lang="en-GB" dirty="0"/>
          </a:p>
        </p:txBody>
      </p:sp>
    </p:spTree>
    <p:extLst>
      <p:ext uri="{BB962C8B-B14F-4D97-AF65-F5344CB8AC3E}">
        <p14:creationId xmlns:p14="http://schemas.microsoft.com/office/powerpoint/2010/main" val="2728573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CD29B-60A6-41FC-9B69-DEEB4F66C68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9F128B9-16FF-4677-8C01-2131C4E4D09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169426E-6336-461F-B428-428F93A323C6}"/>
              </a:ext>
            </a:extLst>
          </p:cNvPr>
          <p:cNvSpPr>
            <a:spLocks noGrp="1"/>
          </p:cNvSpPr>
          <p:nvPr>
            <p:ph type="dt" sz="half" idx="10"/>
          </p:nvPr>
        </p:nvSpPr>
        <p:spPr/>
        <p:txBody>
          <a:bodyPr/>
          <a:lstStyle/>
          <a:p>
            <a:fld id="{C4F8C0DC-7841-48EE-8272-2E71B8950332}" type="datetimeFigureOut">
              <a:rPr lang="en-GB" smtClean="0"/>
              <a:t>12/09/2024</a:t>
            </a:fld>
            <a:endParaRPr lang="en-GB" dirty="0"/>
          </a:p>
        </p:txBody>
      </p:sp>
      <p:sp>
        <p:nvSpPr>
          <p:cNvPr id="5" name="Footer Placeholder 4">
            <a:extLst>
              <a:ext uri="{FF2B5EF4-FFF2-40B4-BE49-F238E27FC236}">
                <a16:creationId xmlns:a16="http://schemas.microsoft.com/office/drawing/2014/main" id="{AF0F82FD-6DAC-445B-94D9-1033044508F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E6D38F2C-F143-4531-8A48-7291101ACDFC}"/>
              </a:ext>
            </a:extLst>
          </p:cNvPr>
          <p:cNvSpPr>
            <a:spLocks noGrp="1"/>
          </p:cNvSpPr>
          <p:nvPr>
            <p:ph type="sldNum" sz="quarter" idx="12"/>
          </p:nvPr>
        </p:nvSpPr>
        <p:spPr/>
        <p:txBody>
          <a:bodyPr/>
          <a:lstStyle/>
          <a:p>
            <a:fld id="{5595D00E-7376-49EC-B215-91493CB406BF}" type="slidenum">
              <a:rPr lang="en-GB" smtClean="0"/>
              <a:t>‹#›</a:t>
            </a:fld>
            <a:endParaRPr lang="en-GB" dirty="0"/>
          </a:p>
        </p:txBody>
      </p:sp>
    </p:spTree>
    <p:extLst>
      <p:ext uri="{BB962C8B-B14F-4D97-AF65-F5344CB8AC3E}">
        <p14:creationId xmlns:p14="http://schemas.microsoft.com/office/powerpoint/2010/main" val="751736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3755B-C392-4EFE-A6E5-B209F232A3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E300864-4B87-4F09-8EA6-741AEE57AC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C943268-49F7-4A94-9B9F-F7652D056E86}"/>
              </a:ext>
            </a:extLst>
          </p:cNvPr>
          <p:cNvSpPr>
            <a:spLocks noGrp="1"/>
          </p:cNvSpPr>
          <p:nvPr>
            <p:ph type="dt" sz="half" idx="10"/>
          </p:nvPr>
        </p:nvSpPr>
        <p:spPr/>
        <p:txBody>
          <a:bodyPr/>
          <a:lstStyle/>
          <a:p>
            <a:fld id="{C4F8C0DC-7841-48EE-8272-2E71B8950332}" type="datetimeFigureOut">
              <a:rPr lang="en-GB" smtClean="0"/>
              <a:t>12/09/2024</a:t>
            </a:fld>
            <a:endParaRPr lang="en-GB" dirty="0"/>
          </a:p>
        </p:txBody>
      </p:sp>
      <p:sp>
        <p:nvSpPr>
          <p:cNvPr id="5" name="Footer Placeholder 4">
            <a:extLst>
              <a:ext uri="{FF2B5EF4-FFF2-40B4-BE49-F238E27FC236}">
                <a16:creationId xmlns:a16="http://schemas.microsoft.com/office/drawing/2014/main" id="{25BD7C3C-F870-472E-B948-680654360DD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865D4DC7-D1C0-47C4-8F1A-0B1D8E882455}"/>
              </a:ext>
            </a:extLst>
          </p:cNvPr>
          <p:cNvSpPr>
            <a:spLocks noGrp="1"/>
          </p:cNvSpPr>
          <p:nvPr>
            <p:ph type="sldNum" sz="quarter" idx="12"/>
          </p:nvPr>
        </p:nvSpPr>
        <p:spPr/>
        <p:txBody>
          <a:bodyPr/>
          <a:lstStyle/>
          <a:p>
            <a:fld id="{5595D00E-7376-49EC-B215-91493CB406BF}" type="slidenum">
              <a:rPr lang="en-GB" smtClean="0"/>
              <a:t>‹#›</a:t>
            </a:fld>
            <a:endParaRPr lang="en-GB" dirty="0"/>
          </a:p>
        </p:txBody>
      </p:sp>
    </p:spTree>
    <p:extLst>
      <p:ext uri="{BB962C8B-B14F-4D97-AF65-F5344CB8AC3E}">
        <p14:creationId xmlns:p14="http://schemas.microsoft.com/office/powerpoint/2010/main" val="885148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069AF-4306-4CA7-8CFE-7AEF93AD6CA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0771848-EA7A-4A33-88EF-4074903ED5D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59ECFB1-01AE-4F4B-9BF6-BDB2C0CAA92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DC52744-AFCA-4EB3-AE7C-CB5A87210993}"/>
              </a:ext>
            </a:extLst>
          </p:cNvPr>
          <p:cNvSpPr>
            <a:spLocks noGrp="1"/>
          </p:cNvSpPr>
          <p:nvPr>
            <p:ph type="dt" sz="half" idx="10"/>
          </p:nvPr>
        </p:nvSpPr>
        <p:spPr/>
        <p:txBody>
          <a:bodyPr/>
          <a:lstStyle/>
          <a:p>
            <a:fld id="{C4F8C0DC-7841-48EE-8272-2E71B8950332}" type="datetimeFigureOut">
              <a:rPr lang="en-GB" smtClean="0"/>
              <a:t>12/09/2024</a:t>
            </a:fld>
            <a:endParaRPr lang="en-GB" dirty="0"/>
          </a:p>
        </p:txBody>
      </p:sp>
      <p:sp>
        <p:nvSpPr>
          <p:cNvPr id="6" name="Footer Placeholder 5">
            <a:extLst>
              <a:ext uri="{FF2B5EF4-FFF2-40B4-BE49-F238E27FC236}">
                <a16:creationId xmlns:a16="http://schemas.microsoft.com/office/drawing/2014/main" id="{14054DE6-BFA5-4811-B374-97D5D6971FD6}"/>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7BFC485A-5064-4EF9-96E2-0ED087184BC1}"/>
              </a:ext>
            </a:extLst>
          </p:cNvPr>
          <p:cNvSpPr>
            <a:spLocks noGrp="1"/>
          </p:cNvSpPr>
          <p:nvPr>
            <p:ph type="sldNum" sz="quarter" idx="12"/>
          </p:nvPr>
        </p:nvSpPr>
        <p:spPr/>
        <p:txBody>
          <a:bodyPr/>
          <a:lstStyle/>
          <a:p>
            <a:fld id="{5595D00E-7376-49EC-B215-91493CB406BF}" type="slidenum">
              <a:rPr lang="en-GB" smtClean="0"/>
              <a:t>‹#›</a:t>
            </a:fld>
            <a:endParaRPr lang="en-GB" dirty="0"/>
          </a:p>
        </p:txBody>
      </p:sp>
    </p:spTree>
    <p:extLst>
      <p:ext uri="{BB962C8B-B14F-4D97-AF65-F5344CB8AC3E}">
        <p14:creationId xmlns:p14="http://schemas.microsoft.com/office/powerpoint/2010/main" val="3300336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97F59-3735-406F-B0A5-D15F598EEB3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E3D6AF-DD29-4E32-B453-532D6E936B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C48E5A7-5AEC-429C-A55F-40FB2C44F69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FF019B6-E0EF-4760-8304-C4FFE466F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691E6B2-25CE-4F62-B6D0-BD88CE0DC05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DA1B5F9-6195-481C-B749-4DD893DF0755}"/>
              </a:ext>
            </a:extLst>
          </p:cNvPr>
          <p:cNvSpPr>
            <a:spLocks noGrp="1"/>
          </p:cNvSpPr>
          <p:nvPr>
            <p:ph type="dt" sz="half" idx="10"/>
          </p:nvPr>
        </p:nvSpPr>
        <p:spPr/>
        <p:txBody>
          <a:bodyPr/>
          <a:lstStyle/>
          <a:p>
            <a:fld id="{C4F8C0DC-7841-48EE-8272-2E71B8950332}" type="datetimeFigureOut">
              <a:rPr lang="en-GB" smtClean="0"/>
              <a:t>12/09/2024</a:t>
            </a:fld>
            <a:endParaRPr lang="en-GB" dirty="0"/>
          </a:p>
        </p:txBody>
      </p:sp>
      <p:sp>
        <p:nvSpPr>
          <p:cNvPr id="8" name="Footer Placeholder 7">
            <a:extLst>
              <a:ext uri="{FF2B5EF4-FFF2-40B4-BE49-F238E27FC236}">
                <a16:creationId xmlns:a16="http://schemas.microsoft.com/office/drawing/2014/main" id="{82CF18D3-859B-4CA7-BD40-24862C74E0E6}"/>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F4480F71-4C20-46ED-883E-FBD706B223F3}"/>
              </a:ext>
            </a:extLst>
          </p:cNvPr>
          <p:cNvSpPr>
            <a:spLocks noGrp="1"/>
          </p:cNvSpPr>
          <p:nvPr>
            <p:ph type="sldNum" sz="quarter" idx="12"/>
          </p:nvPr>
        </p:nvSpPr>
        <p:spPr/>
        <p:txBody>
          <a:bodyPr/>
          <a:lstStyle/>
          <a:p>
            <a:fld id="{5595D00E-7376-49EC-B215-91493CB406BF}" type="slidenum">
              <a:rPr lang="en-GB" smtClean="0"/>
              <a:t>‹#›</a:t>
            </a:fld>
            <a:endParaRPr lang="en-GB" dirty="0"/>
          </a:p>
        </p:txBody>
      </p:sp>
    </p:spTree>
    <p:extLst>
      <p:ext uri="{BB962C8B-B14F-4D97-AF65-F5344CB8AC3E}">
        <p14:creationId xmlns:p14="http://schemas.microsoft.com/office/powerpoint/2010/main" val="3781646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8E392-AF96-459B-A2F0-0331354A1EB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54A8F4F-7EA6-451E-8F2D-9688EBE48647}"/>
              </a:ext>
            </a:extLst>
          </p:cNvPr>
          <p:cNvSpPr>
            <a:spLocks noGrp="1"/>
          </p:cNvSpPr>
          <p:nvPr>
            <p:ph type="dt" sz="half" idx="10"/>
          </p:nvPr>
        </p:nvSpPr>
        <p:spPr/>
        <p:txBody>
          <a:bodyPr/>
          <a:lstStyle/>
          <a:p>
            <a:fld id="{C4F8C0DC-7841-48EE-8272-2E71B8950332}" type="datetimeFigureOut">
              <a:rPr lang="en-GB" smtClean="0"/>
              <a:t>12/09/2024</a:t>
            </a:fld>
            <a:endParaRPr lang="en-GB" dirty="0"/>
          </a:p>
        </p:txBody>
      </p:sp>
      <p:sp>
        <p:nvSpPr>
          <p:cNvPr id="4" name="Footer Placeholder 3">
            <a:extLst>
              <a:ext uri="{FF2B5EF4-FFF2-40B4-BE49-F238E27FC236}">
                <a16:creationId xmlns:a16="http://schemas.microsoft.com/office/drawing/2014/main" id="{626F7048-B2F5-47C6-9290-670BB4EDA644}"/>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8E2503C-08C1-4F35-8B5E-8A6FD51C55E3}"/>
              </a:ext>
            </a:extLst>
          </p:cNvPr>
          <p:cNvSpPr>
            <a:spLocks noGrp="1"/>
          </p:cNvSpPr>
          <p:nvPr>
            <p:ph type="sldNum" sz="quarter" idx="12"/>
          </p:nvPr>
        </p:nvSpPr>
        <p:spPr/>
        <p:txBody>
          <a:bodyPr/>
          <a:lstStyle/>
          <a:p>
            <a:fld id="{5595D00E-7376-49EC-B215-91493CB406BF}" type="slidenum">
              <a:rPr lang="en-GB" smtClean="0"/>
              <a:t>‹#›</a:t>
            </a:fld>
            <a:endParaRPr lang="en-GB" dirty="0"/>
          </a:p>
        </p:txBody>
      </p:sp>
    </p:spTree>
    <p:extLst>
      <p:ext uri="{BB962C8B-B14F-4D97-AF65-F5344CB8AC3E}">
        <p14:creationId xmlns:p14="http://schemas.microsoft.com/office/powerpoint/2010/main" val="1763424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FFA664-B2E2-4E3F-B9FF-AF0A8BD5CE85}"/>
              </a:ext>
            </a:extLst>
          </p:cNvPr>
          <p:cNvSpPr>
            <a:spLocks noGrp="1"/>
          </p:cNvSpPr>
          <p:nvPr>
            <p:ph type="dt" sz="half" idx="10"/>
          </p:nvPr>
        </p:nvSpPr>
        <p:spPr/>
        <p:txBody>
          <a:bodyPr/>
          <a:lstStyle/>
          <a:p>
            <a:fld id="{C4F8C0DC-7841-48EE-8272-2E71B8950332}" type="datetimeFigureOut">
              <a:rPr lang="en-GB" smtClean="0"/>
              <a:t>12/09/2024</a:t>
            </a:fld>
            <a:endParaRPr lang="en-GB" dirty="0"/>
          </a:p>
        </p:txBody>
      </p:sp>
      <p:sp>
        <p:nvSpPr>
          <p:cNvPr id="3" name="Footer Placeholder 2">
            <a:extLst>
              <a:ext uri="{FF2B5EF4-FFF2-40B4-BE49-F238E27FC236}">
                <a16:creationId xmlns:a16="http://schemas.microsoft.com/office/drawing/2014/main" id="{172688A5-4769-48DC-85F4-CFCACD296840}"/>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A8046938-E553-4488-9D47-D981BCC019E2}"/>
              </a:ext>
            </a:extLst>
          </p:cNvPr>
          <p:cNvSpPr>
            <a:spLocks noGrp="1"/>
          </p:cNvSpPr>
          <p:nvPr>
            <p:ph type="sldNum" sz="quarter" idx="12"/>
          </p:nvPr>
        </p:nvSpPr>
        <p:spPr/>
        <p:txBody>
          <a:bodyPr/>
          <a:lstStyle/>
          <a:p>
            <a:fld id="{5595D00E-7376-49EC-B215-91493CB406BF}" type="slidenum">
              <a:rPr lang="en-GB" smtClean="0"/>
              <a:t>‹#›</a:t>
            </a:fld>
            <a:endParaRPr lang="en-GB" dirty="0"/>
          </a:p>
        </p:txBody>
      </p:sp>
    </p:spTree>
    <p:extLst>
      <p:ext uri="{BB962C8B-B14F-4D97-AF65-F5344CB8AC3E}">
        <p14:creationId xmlns:p14="http://schemas.microsoft.com/office/powerpoint/2010/main" val="267910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85CC9-E4E1-480A-BD64-955BEB5E84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E06326E-D8CE-48E2-8F51-88F4A6F5D6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F94BA95-FE95-4057-B943-DE8DBE09A4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30818E9-037A-48D2-B791-6CF085AB645A}"/>
              </a:ext>
            </a:extLst>
          </p:cNvPr>
          <p:cNvSpPr>
            <a:spLocks noGrp="1"/>
          </p:cNvSpPr>
          <p:nvPr>
            <p:ph type="dt" sz="half" idx="10"/>
          </p:nvPr>
        </p:nvSpPr>
        <p:spPr/>
        <p:txBody>
          <a:bodyPr/>
          <a:lstStyle/>
          <a:p>
            <a:fld id="{C4F8C0DC-7841-48EE-8272-2E71B8950332}" type="datetimeFigureOut">
              <a:rPr lang="en-GB" smtClean="0"/>
              <a:t>12/09/2024</a:t>
            </a:fld>
            <a:endParaRPr lang="en-GB" dirty="0"/>
          </a:p>
        </p:txBody>
      </p:sp>
      <p:sp>
        <p:nvSpPr>
          <p:cNvPr id="6" name="Footer Placeholder 5">
            <a:extLst>
              <a:ext uri="{FF2B5EF4-FFF2-40B4-BE49-F238E27FC236}">
                <a16:creationId xmlns:a16="http://schemas.microsoft.com/office/drawing/2014/main" id="{49A8AA0A-35C2-4D87-84ED-60EB6F813707}"/>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DB579A6C-E418-401D-B6A8-19BDEB685CF3}"/>
              </a:ext>
            </a:extLst>
          </p:cNvPr>
          <p:cNvSpPr>
            <a:spLocks noGrp="1"/>
          </p:cNvSpPr>
          <p:nvPr>
            <p:ph type="sldNum" sz="quarter" idx="12"/>
          </p:nvPr>
        </p:nvSpPr>
        <p:spPr/>
        <p:txBody>
          <a:bodyPr/>
          <a:lstStyle/>
          <a:p>
            <a:fld id="{5595D00E-7376-49EC-B215-91493CB406BF}" type="slidenum">
              <a:rPr lang="en-GB" smtClean="0"/>
              <a:t>‹#›</a:t>
            </a:fld>
            <a:endParaRPr lang="en-GB" dirty="0"/>
          </a:p>
        </p:txBody>
      </p:sp>
    </p:spTree>
    <p:extLst>
      <p:ext uri="{BB962C8B-B14F-4D97-AF65-F5344CB8AC3E}">
        <p14:creationId xmlns:p14="http://schemas.microsoft.com/office/powerpoint/2010/main" val="3198933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FECCE-8DA4-4FEE-90EE-8486843A7F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2E22CEC-EAFD-4A61-A009-66EF2C594C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0CAA07B0-EA7B-4D81-B112-BE384CB59F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290193B-D324-43AC-B092-CF18C9F14EF4}"/>
              </a:ext>
            </a:extLst>
          </p:cNvPr>
          <p:cNvSpPr>
            <a:spLocks noGrp="1"/>
          </p:cNvSpPr>
          <p:nvPr>
            <p:ph type="dt" sz="half" idx="10"/>
          </p:nvPr>
        </p:nvSpPr>
        <p:spPr/>
        <p:txBody>
          <a:bodyPr/>
          <a:lstStyle/>
          <a:p>
            <a:fld id="{C4F8C0DC-7841-48EE-8272-2E71B8950332}" type="datetimeFigureOut">
              <a:rPr lang="en-GB" smtClean="0"/>
              <a:t>12/09/2024</a:t>
            </a:fld>
            <a:endParaRPr lang="en-GB" dirty="0"/>
          </a:p>
        </p:txBody>
      </p:sp>
      <p:sp>
        <p:nvSpPr>
          <p:cNvPr id="6" name="Footer Placeholder 5">
            <a:extLst>
              <a:ext uri="{FF2B5EF4-FFF2-40B4-BE49-F238E27FC236}">
                <a16:creationId xmlns:a16="http://schemas.microsoft.com/office/drawing/2014/main" id="{584DB412-EB77-4CC2-9F68-4E657DD777F0}"/>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57A8B7A7-109C-4003-8E40-5288756336C1}"/>
              </a:ext>
            </a:extLst>
          </p:cNvPr>
          <p:cNvSpPr>
            <a:spLocks noGrp="1"/>
          </p:cNvSpPr>
          <p:nvPr>
            <p:ph type="sldNum" sz="quarter" idx="12"/>
          </p:nvPr>
        </p:nvSpPr>
        <p:spPr/>
        <p:txBody>
          <a:bodyPr/>
          <a:lstStyle/>
          <a:p>
            <a:fld id="{5595D00E-7376-49EC-B215-91493CB406BF}" type="slidenum">
              <a:rPr lang="en-GB" smtClean="0"/>
              <a:t>‹#›</a:t>
            </a:fld>
            <a:endParaRPr lang="en-GB" dirty="0"/>
          </a:p>
        </p:txBody>
      </p:sp>
    </p:spTree>
    <p:extLst>
      <p:ext uri="{BB962C8B-B14F-4D97-AF65-F5344CB8AC3E}">
        <p14:creationId xmlns:p14="http://schemas.microsoft.com/office/powerpoint/2010/main" val="309916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512B7-8784-42F8-B3D9-548FAA070D4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B7EB06D-FBF0-4141-876E-9F36D940BA7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A420BD2-E89F-468D-AAB9-631D43000976}"/>
              </a:ext>
            </a:extLst>
          </p:cNvPr>
          <p:cNvSpPr>
            <a:spLocks noGrp="1"/>
          </p:cNvSpPr>
          <p:nvPr>
            <p:ph type="dt" sz="half" idx="10"/>
          </p:nvPr>
        </p:nvSpPr>
        <p:spPr/>
        <p:txBody>
          <a:bodyPr/>
          <a:lstStyle/>
          <a:p>
            <a:fld id="{C4F8C0DC-7841-48EE-8272-2E71B8950332}" type="datetimeFigureOut">
              <a:rPr lang="en-GB" smtClean="0"/>
              <a:t>12/09/2024</a:t>
            </a:fld>
            <a:endParaRPr lang="en-GB" dirty="0"/>
          </a:p>
        </p:txBody>
      </p:sp>
      <p:sp>
        <p:nvSpPr>
          <p:cNvPr id="5" name="Footer Placeholder 4">
            <a:extLst>
              <a:ext uri="{FF2B5EF4-FFF2-40B4-BE49-F238E27FC236}">
                <a16:creationId xmlns:a16="http://schemas.microsoft.com/office/drawing/2014/main" id="{3F10A3E5-64B6-4931-B9EF-1CF87699722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9F57C144-07BC-4CD1-8F73-5E2EEFD832F8}"/>
              </a:ext>
            </a:extLst>
          </p:cNvPr>
          <p:cNvSpPr>
            <a:spLocks noGrp="1"/>
          </p:cNvSpPr>
          <p:nvPr>
            <p:ph type="sldNum" sz="quarter" idx="12"/>
          </p:nvPr>
        </p:nvSpPr>
        <p:spPr/>
        <p:txBody>
          <a:bodyPr/>
          <a:lstStyle/>
          <a:p>
            <a:fld id="{5595D00E-7376-49EC-B215-91493CB406BF}" type="slidenum">
              <a:rPr lang="en-GB" smtClean="0"/>
              <a:t>‹#›</a:t>
            </a:fld>
            <a:endParaRPr lang="en-GB" dirty="0"/>
          </a:p>
        </p:txBody>
      </p:sp>
    </p:spTree>
    <p:extLst>
      <p:ext uri="{BB962C8B-B14F-4D97-AF65-F5344CB8AC3E}">
        <p14:creationId xmlns:p14="http://schemas.microsoft.com/office/powerpoint/2010/main" val="738576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3F3443-076B-4F77-8932-C0D7AABB38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AC109F8-E9AB-4F52-83A1-989308CE14C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E0708F4-ECE7-4741-94B2-9FBF9AEDD620}"/>
              </a:ext>
            </a:extLst>
          </p:cNvPr>
          <p:cNvSpPr>
            <a:spLocks noGrp="1"/>
          </p:cNvSpPr>
          <p:nvPr>
            <p:ph type="dt" sz="half" idx="10"/>
          </p:nvPr>
        </p:nvSpPr>
        <p:spPr/>
        <p:txBody>
          <a:bodyPr/>
          <a:lstStyle/>
          <a:p>
            <a:fld id="{C4F8C0DC-7841-48EE-8272-2E71B8950332}" type="datetimeFigureOut">
              <a:rPr lang="en-GB" smtClean="0"/>
              <a:t>12/09/2024</a:t>
            </a:fld>
            <a:endParaRPr lang="en-GB" dirty="0"/>
          </a:p>
        </p:txBody>
      </p:sp>
      <p:sp>
        <p:nvSpPr>
          <p:cNvPr id="5" name="Footer Placeholder 4">
            <a:extLst>
              <a:ext uri="{FF2B5EF4-FFF2-40B4-BE49-F238E27FC236}">
                <a16:creationId xmlns:a16="http://schemas.microsoft.com/office/drawing/2014/main" id="{7A1B8DF0-D613-443A-88EB-3D971E694DC8}"/>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EF36B2F-1503-4511-9E35-9A1CF9072B8A}"/>
              </a:ext>
            </a:extLst>
          </p:cNvPr>
          <p:cNvSpPr>
            <a:spLocks noGrp="1"/>
          </p:cNvSpPr>
          <p:nvPr>
            <p:ph type="sldNum" sz="quarter" idx="12"/>
          </p:nvPr>
        </p:nvSpPr>
        <p:spPr/>
        <p:txBody>
          <a:bodyPr/>
          <a:lstStyle/>
          <a:p>
            <a:fld id="{5595D00E-7376-49EC-B215-91493CB406BF}" type="slidenum">
              <a:rPr lang="en-GB" smtClean="0"/>
              <a:t>‹#›</a:t>
            </a:fld>
            <a:endParaRPr lang="en-GB" dirty="0"/>
          </a:p>
        </p:txBody>
      </p:sp>
    </p:spTree>
    <p:extLst>
      <p:ext uri="{BB962C8B-B14F-4D97-AF65-F5344CB8AC3E}">
        <p14:creationId xmlns:p14="http://schemas.microsoft.com/office/powerpoint/2010/main" val="2324397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C07114-8579-4949-90F0-C1D743D139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7EE4FD9-7073-487E-96A5-1FB03E6868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34041DC-486C-4335-9371-BDBFC25BA7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F8C0DC-7841-48EE-8272-2E71B8950332}" type="datetimeFigureOut">
              <a:rPr lang="en-GB" smtClean="0"/>
              <a:t>12/09/2024</a:t>
            </a:fld>
            <a:endParaRPr lang="en-GB" dirty="0"/>
          </a:p>
        </p:txBody>
      </p:sp>
      <p:sp>
        <p:nvSpPr>
          <p:cNvPr id="5" name="Footer Placeholder 4">
            <a:extLst>
              <a:ext uri="{FF2B5EF4-FFF2-40B4-BE49-F238E27FC236}">
                <a16:creationId xmlns:a16="http://schemas.microsoft.com/office/drawing/2014/main" id="{A852B1C4-2F2E-4019-A81B-36A3E40BE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184DE1BE-1478-4342-B439-12DD55675E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95D00E-7376-49EC-B215-91493CB406BF}" type="slidenum">
              <a:rPr lang="en-GB" smtClean="0"/>
              <a:t>‹#›</a:t>
            </a:fld>
            <a:endParaRPr lang="en-GB" dirty="0"/>
          </a:p>
        </p:txBody>
      </p:sp>
    </p:spTree>
    <p:extLst>
      <p:ext uri="{BB962C8B-B14F-4D97-AF65-F5344CB8AC3E}">
        <p14:creationId xmlns:p14="http://schemas.microsoft.com/office/powerpoint/2010/main" val="3801244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liverpoolhope.fra1.qualtrics.com/jfe/form/SV_6u6CPvsXZ5Mou6q" TargetMode="Externa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fontScale="90000"/>
          </a:bodyPr>
          <a:lstStyle/>
          <a:p>
            <a:r>
              <a:rPr lang="en-GB" sz="8800" dirty="0"/>
              <a:t>Building the Foundations of Success: Academic Confidence</a:t>
            </a:r>
            <a:endParaRPr lang="en-GB" sz="8800" b="1" dirty="0"/>
          </a:p>
        </p:txBody>
      </p:sp>
      <p:sp>
        <p:nvSpPr>
          <p:cNvPr id="3" name="Subtitle 2">
            <a:extLst>
              <a:ext uri="{FF2B5EF4-FFF2-40B4-BE49-F238E27FC236}">
                <a16:creationId xmlns:a16="http://schemas.microsoft.com/office/drawing/2014/main" id="{8029019F-344E-46B1-8125-82A9194B0D7D}"/>
              </a:ext>
            </a:extLst>
          </p:cNvPr>
          <p:cNvSpPr>
            <a:spLocks noGrp="1"/>
          </p:cNvSpPr>
          <p:nvPr>
            <p:ph type="subTitle" idx="1"/>
          </p:nvPr>
        </p:nvSpPr>
        <p:spPr>
          <a:xfrm>
            <a:off x="1524000" y="4849857"/>
            <a:ext cx="9144000" cy="1655762"/>
          </a:xfrm>
        </p:spPr>
        <p:txBody>
          <a:bodyPr>
            <a:normAutofit/>
          </a:bodyPr>
          <a:lstStyle/>
          <a:p>
            <a:r>
              <a:rPr lang="en-GB" sz="4800" b="1" dirty="0"/>
              <a:t>Short Course 2024</a:t>
            </a:r>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2754835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p:txBody>
          <a:bodyPr>
            <a:normAutofit/>
          </a:bodyPr>
          <a:lstStyle/>
          <a:p>
            <a:r>
              <a:rPr lang="en-GB" sz="5400" b="1" dirty="0"/>
              <a:t>Agenda</a:t>
            </a:r>
          </a:p>
        </p:txBody>
      </p:sp>
      <p:sp>
        <p:nvSpPr>
          <p:cNvPr id="10" name="Content Placeholder 9">
            <a:extLst>
              <a:ext uri="{FF2B5EF4-FFF2-40B4-BE49-F238E27FC236}">
                <a16:creationId xmlns:a16="http://schemas.microsoft.com/office/drawing/2014/main" id="{00C6F9A3-D887-41AA-8709-CD5A23E8E5D4}"/>
              </a:ext>
            </a:extLst>
          </p:cNvPr>
          <p:cNvSpPr>
            <a:spLocks noGrp="1"/>
          </p:cNvSpPr>
          <p:nvPr>
            <p:ph idx="1"/>
          </p:nvPr>
        </p:nvSpPr>
        <p:spPr>
          <a:xfrm>
            <a:off x="1104900" y="1690688"/>
            <a:ext cx="9424148" cy="4351338"/>
          </a:xfrm>
        </p:spPr>
        <p:txBody>
          <a:bodyPr>
            <a:normAutofit lnSpcReduction="10000"/>
          </a:bodyPr>
          <a:lstStyle/>
          <a:p>
            <a:pPr marL="914400" indent="-914400">
              <a:buSzPct val="95000"/>
              <a:buFont typeface="+mj-lt"/>
              <a:buAutoNum type="arabicPeriod"/>
            </a:pPr>
            <a:r>
              <a:rPr lang="en-GB" sz="4000" dirty="0"/>
              <a:t>Introduce Academic Behavioural Confidence (ABC)</a:t>
            </a:r>
          </a:p>
          <a:p>
            <a:pPr marL="914400" indent="-914400">
              <a:buSzPct val="95000"/>
              <a:buFont typeface="+mj-lt"/>
              <a:buAutoNum type="arabicPeriod"/>
            </a:pPr>
            <a:r>
              <a:rPr lang="en-GB" sz="4000" dirty="0"/>
              <a:t>Activity 1 – Influencing Factors</a:t>
            </a:r>
          </a:p>
          <a:p>
            <a:pPr marL="914400" indent="-914400">
              <a:buSzPct val="95000"/>
              <a:buFont typeface="+mj-lt"/>
              <a:buAutoNum type="arabicPeriod"/>
            </a:pPr>
            <a:r>
              <a:rPr lang="en-GB" sz="4000" dirty="0"/>
              <a:t>Impact of ABC</a:t>
            </a:r>
          </a:p>
          <a:p>
            <a:pPr marL="914400" indent="-914400">
              <a:buSzPct val="95000"/>
              <a:buFont typeface="+mj-lt"/>
              <a:buAutoNum type="arabicPeriod"/>
            </a:pPr>
            <a:r>
              <a:rPr lang="en-GB" sz="4000" dirty="0"/>
              <a:t>Strategies</a:t>
            </a:r>
          </a:p>
          <a:p>
            <a:pPr marL="914400" indent="-914400">
              <a:buSzPct val="95000"/>
              <a:buFont typeface="+mj-lt"/>
              <a:buAutoNum type="arabicPeriod"/>
            </a:pPr>
            <a:r>
              <a:rPr lang="en-GB" sz="4000" dirty="0"/>
              <a:t>Activity 2 - Questionnaire</a:t>
            </a:r>
          </a:p>
          <a:p>
            <a:pPr marL="914400" indent="-914400">
              <a:buSzPct val="95000"/>
              <a:buFont typeface="+mj-lt"/>
              <a:buAutoNum type="arabicPeriod"/>
            </a:pPr>
            <a:r>
              <a:rPr lang="en-GB" sz="4000" dirty="0"/>
              <a:t>Discussion </a:t>
            </a:r>
          </a:p>
          <a:p>
            <a:pPr marL="0" indent="0">
              <a:buNone/>
            </a:pPr>
            <a:endParaRPr lang="en-GB" sz="5400" dirty="0"/>
          </a:p>
          <a:p>
            <a:pPr marL="914400" indent="-914400">
              <a:buFont typeface="+mj-lt"/>
              <a:buAutoNum type="arabicPeriod"/>
            </a:pPr>
            <a:endParaRPr lang="en-GB" sz="5400" dirty="0"/>
          </a:p>
          <a:p>
            <a:pPr marL="0" indent="0">
              <a:buNone/>
            </a:pPr>
            <a:endParaRPr lang="en-GB" dirty="0"/>
          </a:p>
        </p:txBody>
      </p:sp>
    </p:spTree>
    <p:extLst>
      <p:ext uri="{BB962C8B-B14F-4D97-AF65-F5344CB8AC3E}">
        <p14:creationId xmlns:p14="http://schemas.microsoft.com/office/powerpoint/2010/main" val="3386184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p:txBody>
          <a:bodyPr>
            <a:normAutofit/>
          </a:bodyPr>
          <a:lstStyle/>
          <a:p>
            <a:r>
              <a:rPr lang="en-GB" sz="5400" b="1" dirty="0"/>
              <a:t>Academic Behavioural Confidence</a:t>
            </a:r>
          </a:p>
        </p:txBody>
      </p:sp>
      <p:sp>
        <p:nvSpPr>
          <p:cNvPr id="10" name="Content Placeholder 9">
            <a:extLst>
              <a:ext uri="{FF2B5EF4-FFF2-40B4-BE49-F238E27FC236}">
                <a16:creationId xmlns:a16="http://schemas.microsoft.com/office/drawing/2014/main" id="{00C6F9A3-D887-41AA-8709-CD5A23E8E5D4}"/>
              </a:ext>
            </a:extLst>
          </p:cNvPr>
          <p:cNvSpPr>
            <a:spLocks noGrp="1"/>
          </p:cNvSpPr>
          <p:nvPr>
            <p:ph idx="1"/>
          </p:nvPr>
        </p:nvSpPr>
        <p:spPr/>
        <p:txBody>
          <a:bodyPr>
            <a:normAutofit/>
          </a:bodyPr>
          <a:lstStyle/>
          <a:p>
            <a:pPr marL="0" indent="0">
              <a:buNone/>
            </a:pPr>
            <a:r>
              <a:rPr lang="en-GB" sz="5400" dirty="0"/>
              <a:t>“Your confidence in your ability to organise, execute and regulate your academic performance to undertake &amp; complete your studies at degree level”</a:t>
            </a:r>
          </a:p>
          <a:p>
            <a:pPr marL="0" indent="0">
              <a:buNone/>
            </a:pPr>
            <a:endParaRPr lang="en-GB" dirty="0"/>
          </a:p>
        </p:txBody>
      </p:sp>
    </p:spTree>
    <p:extLst>
      <p:ext uri="{BB962C8B-B14F-4D97-AF65-F5344CB8AC3E}">
        <p14:creationId xmlns:p14="http://schemas.microsoft.com/office/powerpoint/2010/main" val="4026313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365125"/>
            <a:ext cx="11035553" cy="1325563"/>
          </a:xfrm>
        </p:spPr>
        <p:txBody>
          <a:bodyPr>
            <a:noAutofit/>
          </a:bodyPr>
          <a:lstStyle/>
          <a:p>
            <a:r>
              <a:rPr lang="en-GB" sz="5400" b="1" dirty="0"/>
              <a:t>Aspects of Academic Behavioural Confidence</a:t>
            </a:r>
          </a:p>
        </p:txBody>
      </p:sp>
      <p:sp>
        <p:nvSpPr>
          <p:cNvPr id="6" name="Rectangle: Rounded Corners 5">
            <a:extLst>
              <a:ext uri="{FF2B5EF4-FFF2-40B4-BE49-F238E27FC236}">
                <a16:creationId xmlns:a16="http://schemas.microsoft.com/office/drawing/2014/main" id="{0E0CBD82-81AD-4A6A-9E8C-68779BBB9BAE}"/>
              </a:ext>
            </a:extLst>
          </p:cNvPr>
          <p:cNvSpPr/>
          <p:nvPr/>
        </p:nvSpPr>
        <p:spPr>
          <a:xfrm>
            <a:off x="2638424" y="1896477"/>
            <a:ext cx="2952666" cy="2047871"/>
          </a:xfrm>
          <a:prstGeom prst="roundRect">
            <a:avLst/>
          </a:prstGeom>
          <a:solidFill>
            <a:srgbClr val="599795"/>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Grades</a:t>
            </a:r>
          </a:p>
        </p:txBody>
      </p:sp>
      <p:sp>
        <p:nvSpPr>
          <p:cNvPr id="8" name="Rectangle: Rounded Corners 7">
            <a:extLst>
              <a:ext uri="{FF2B5EF4-FFF2-40B4-BE49-F238E27FC236}">
                <a16:creationId xmlns:a16="http://schemas.microsoft.com/office/drawing/2014/main" id="{FF499A15-8CDB-4B39-AB54-486ACB7D7C77}"/>
              </a:ext>
            </a:extLst>
          </p:cNvPr>
          <p:cNvSpPr/>
          <p:nvPr/>
        </p:nvSpPr>
        <p:spPr>
          <a:xfrm>
            <a:off x="2638424" y="4251960"/>
            <a:ext cx="2952666" cy="2047871"/>
          </a:xfrm>
          <a:prstGeom prst="roundRect">
            <a:avLst/>
          </a:prstGeom>
          <a:solidFill>
            <a:srgbClr val="8CB65D"/>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Studying</a:t>
            </a:r>
          </a:p>
        </p:txBody>
      </p:sp>
      <p:sp>
        <p:nvSpPr>
          <p:cNvPr id="11" name="Rectangle: Rounded Corners 10">
            <a:extLst>
              <a:ext uri="{FF2B5EF4-FFF2-40B4-BE49-F238E27FC236}">
                <a16:creationId xmlns:a16="http://schemas.microsoft.com/office/drawing/2014/main" id="{187B71F5-D57E-41A3-B60B-753CCFDB3E53}"/>
              </a:ext>
            </a:extLst>
          </p:cNvPr>
          <p:cNvSpPr/>
          <p:nvPr/>
        </p:nvSpPr>
        <p:spPr>
          <a:xfrm>
            <a:off x="6419892" y="1896476"/>
            <a:ext cx="2952666" cy="2047871"/>
          </a:xfrm>
          <a:prstGeom prst="roundRect">
            <a:avLst/>
          </a:prstGeom>
          <a:solidFill>
            <a:srgbClr val="C34E56"/>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Verbalising</a:t>
            </a:r>
          </a:p>
        </p:txBody>
      </p:sp>
      <p:sp>
        <p:nvSpPr>
          <p:cNvPr id="12" name="Rectangle: Rounded Corners 11">
            <a:extLst>
              <a:ext uri="{FF2B5EF4-FFF2-40B4-BE49-F238E27FC236}">
                <a16:creationId xmlns:a16="http://schemas.microsoft.com/office/drawing/2014/main" id="{4AC63DD9-6F27-4A10-950F-24C5DA82CB13}"/>
              </a:ext>
            </a:extLst>
          </p:cNvPr>
          <p:cNvSpPr/>
          <p:nvPr/>
        </p:nvSpPr>
        <p:spPr>
          <a:xfrm>
            <a:off x="6419892" y="4251959"/>
            <a:ext cx="2952666" cy="2047871"/>
          </a:xfrm>
          <a:prstGeom prst="roundRect">
            <a:avLst/>
          </a:prstGeom>
          <a:solidFill>
            <a:srgbClr val="D8E301"/>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Attending</a:t>
            </a:r>
          </a:p>
        </p:txBody>
      </p:sp>
    </p:spTree>
    <p:extLst>
      <p:ext uri="{BB962C8B-B14F-4D97-AF65-F5344CB8AC3E}">
        <p14:creationId xmlns:p14="http://schemas.microsoft.com/office/powerpoint/2010/main" val="725433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365125"/>
            <a:ext cx="11035553" cy="1325563"/>
          </a:xfrm>
        </p:spPr>
        <p:txBody>
          <a:bodyPr>
            <a:noAutofit/>
          </a:bodyPr>
          <a:lstStyle/>
          <a:p>
            <a:r>
              <a:rPr lang="en-GB" sz="5400" b="1" dirty="0"/>
              <a:t>Factors Influencing Academic Confidence</a:t>
            </a:r>
          </a:p>
        </p:txBody>
      </p:sp>
      <p:sp>
        <p:nvSpPr>
          <p:cNvPr id="10" name="Content Placeholder 9">
            <a:extLst>
              <a:ext uri="{FF2B5EF4-FFF2-40B4-BE49-F238E27FC236}">
                <a16:creationId xmlns:a16="http://schemas.microsoft.com/office/drawing/2014/main" id="{00C6F9A3-D887-41AA-8709-CD5A23E8E5D4}"/>
              </a:ext>
            </a:extLst>
          </p:cNvPr>
          <p:cNvSpPr>
            <a:spLocks noGrp="1"/>
          </p:cNvSpPr>
          <p:nvPr>
            <p:ph idx="1"/>
          </p:nvPr>
        </p:nvSpPr>
        <p:spPr>
          <a:xfrm>
            <a:off x="838199" y="1825625"/>
            <a:ext cx="10995213" cy="4351338"/>
          </a:xfrm>
        </p:spPr>
        <p:txBody>
          <a:bodyPr>
            <a:normAutofit/>
          </a:bodyPr>
          <a:lstStyle/>
          <a:p>
            <a:pPr>
              <a:lnSpc>
                <a:spcPct val="100000"/>
              </a:lnSpc>
            </a:pPr>
            <a:r>
              <a:rPr lang="en-GB" sz="5400" dirty="0"/>
              <a:t>past academic performance</a:t>
            </a:r>
          </a:p>
          <a:p>
            <a:pPr>
              <a:lnSpc>
                <a:spcPct val="100000"/>
              </a:lnSpc>
            </a:pPr>
            <a:r>
              <a:rPr lang="en-GB" sz="5400" dirty="0"/>
              <a:t>feedback and encouragement</a:t>
            </a:r>
          </a:p>
          <a:p>
            <a:pPr>
              <a:lnSpc>
                <a:spcPct val="100000"/>
              </a:lnSpc>
            </a:pPr>
            <a:r>
              <a:rPr lang="en-GB" sz="5400" dirty="0"/>
              <a:t>perception of self and mindset</a:t>
            </a:r>
          </a:p>
          <a:p>
            <a:pPr>
              <a:lnSpc>
                <a:spcPct val="100000"/>
              </a:lnSpc>
            </a:pPr>
            <a:r>
              <a:rPr lang="en-GB" sz="5400" dirty="0"/>
              <a:t>preparation</a:t>
            </a:r>
          </a:p>
          <a:p>
            <a:pPr>
              <a:lnSpc>
                <a:spcPct val="100000"/>
              </a:lnSpc>
            </a:pPr>
            <a:endParaRPr lang="en-GB" sz="5400" dirty="0"/>
          </a:p>
          <a:p>
            <a:pPr marL="0" indent="0">
              <a:buNone/>
            </a:pPr>
            <a:endParaRPr lang="en-GB" dirty="0"/>
          </a:p>
        </p:txBody>
      </p:sp>
    </p:spTree>
    <p:extLst>
      <p:ext uri="{BB962C8B-B14F-4D97-AF65-F5344CB8AC3E}">
        <p14:creationId xmlns:p14="http://schemas.microsoft.com/office/powerpoint/2010/main" val="2129000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a:bodyPr>
          <a:lstStyle/>
          <a:p>
            <a:r>
              <a:rPr lang="en-GB" sz="8800" dirty="0"/>
              <a:t>Activity 1</a:t>
            </a:r>
            <a:endParaRPr lang="en-GB" sz="8800" b="1" dirty="0"/>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2457586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365125"/>
            <a:ext cx="11035553" cy="1325563"/>
          </a:xfrm>
        </p:spPr>
        <p:txBody>
          <a:bodyPr>
            <a:noAutofit/>
          </a:bodyPr>
          <a:lstStyle/>
          <a:p>
            <a:r>
              <a:rPr lang="en-GB" sz="5400" b="1" dirty="0"/>
              <a:t>Activity 1 – Reflecting on influencing factors</a:t>
            </a:r>
          </a:p>
        </p:txBody>
      </p:sp>
      <p:pic>
        <p:nvPicPr>
          <p:cNvPr id="3" name="Picture 2" descr="A qr code on a white background&#10;&#10;Description automatically generated">
            <a:extLst>
              <a:ext uri="{FF2B5EF4-FFF2-40B4-BE49-F238E27FC236}">
                <a16:creationId xmlns:a16="http://schemas.microsoft.com/office/drawing/2014/main" id="{72C1F508-19F6-D9DC-E394-E84702CA35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53213" y="1396740"/>
            <a:ext cx="4700588" cy="4700588"/>
          </a:xfrm>
          <a:prstGeom prst="rect">
            <a:avLst/>
          </a:prstGeom>
          <a:ln w="38100">
            <a:solidFill>
              <a:srgbClr val="001532"/>
            </a:solidFill>
          </a:ln>
        </p:spPr>
      </p:pic>
      <p:sp>
        <p:nvSpPr>
          <p:cNvPr id="5" name="TextBox 4">
            <a:extLst>
              <a:ext uri="{FF2B5EF4-FFF2-40B4-BE49-F238E27FC236}">
                <a16:creationId xmlns:a16="http://schemas.microsoft.com/office/drawing/2014/main" id="{D28ED4B4-6482-576D-1351-3C11978ED1AE}"/>
              </a:ext>
            </a:extLst>
          </p:cNvPr>
          <p:cNvSpPr txBox="1"/>
          <p:nvPr/>
        </p:nvSpPr>
        <p:spPr>
          <a:xfrm>
            <a:off x="544011" y="2472769"/>
            <a:ext cx="6273478" cy="523220"/>
          </a:xfrm>
          <a:prstGeom prst="rect">
            <a:avLst/>
          </a:prstGeom>
          <a:noFill/>
        </p:spPr>
        <p:txBody>
          <a:bodyPr wrap="square" rtlCol="0">
            <a:spAutoFit/>
          </a:bodyPr>
          <a:lstStyle/>
          <a:p>
            <a:r>
              <a:rPr lang="en-GB" sz="2800" dirty="0"/>
              <a:t>https://www.menti.com/alewpcep3sbz</a:t>
            </a:r>
          </a:p>
        </p:txBody>
      </p:sp>
    </p:spTree>
    <p:extLst>
      <p:ext uri="{BB962C8B-B14F-4D97-AF65-F5344CB8AC3E}">
        <p14:creationId xmlns:p14="http://schemas.microsoft.com/office/powerpoint/2010/main" val="9591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365125"/>
            <a:ext cx="11035553" cy="1325563"/>
          </a:xfrm>
        </p:spPr>
        <p:txBody>
          <a:bodyPr>
            <a:noAutofit/>
          </a:bodyPr>
          <a:lstStyle/>
          <a:p>
            <a:r>
              <a:rPr lang="en-GB" sz="5400" b="1" dirty="0"/>
              <a:t>Positive Impact of ABC</a:t>
            </a:r>
          </a:p>
        </p:txBody>
      </p:sp>
      <p:sp>
        <p:nvSpPr>
          <p:cNvPr id="10" name="Content Placeholder 9">
            <a:extLst>
              <a:ext uri="{FF2B5EF4-FFF2-40B4-BE49-F238E27FC236}">
                <a16:creationId xmlns:a16="http://schemas.microsoft.com/office/drawing/2014/main" id="{00C6F9A3-D887-41AA-8709-CD5A23E8E5D4}"/>
              </a:ext>
            </a:extLst>
          </p:cNvPr>
          <p:cNvSpPr>
            <a:spLocks noGrp="1"/>
          </p:cNvSpPr>
          <p:nvPr>
            <p:ph idx="1"/>
          </p:nvPr>
        </p:nvSpPr>
        <p:spPr>
          <a:xfrm>
            <a:off x="838199" y="1825625"/>
            <a:ext cx="10995213" cy="4351338"/>
          </a:xfrm>
        </p:spPr>
        <p:txBody>
          <a:bodyPr>
            <a:normAutofit fontScale="92500"/>
          </a:bodyPr>
          <a:lstStyle/>
          <a:p>
            <a:pPr marL="0" indent="0">
              <a:lnSpc>
                <a:spcPct val="100000"/>
              </a:lnSpc>
              <a:buNone/>
            </a:pPr>
            <a:r>
              <a:rPr lang="en-GB" sz="5400" dirty="0"/>
              <a:t>Students who are high in academic behavioural confidence exhibit…</a:t>
            </a:r>
          </a:p>
          <a:p>
            <a:pPr>
              <a:lnSpc>
                <a:spcPct val="100000"/>
              </a:lnSpc>
            </a:pPr>
            <a:r>
              <a:rPr lang="en-GB" sz="5400" dirty="0"/>
              <a:t>a willingness to learn</a:t>
            </a:r>
          </a:p>
          <a:p>
            <a:pPr>
              <a:lnSpc>
                <a:spcPct val="100000"/>
              </a:lnSpc>
            </a:pPr>
            <a:r>
              <a:rPr lang="en-GB" sz="5400" dirty="0"/>
              <a:t>the tenacity to face challenges head on</a:t>
            </a:r>
          </a:p>
          <a:p>
            <a:pPr>
              <a:lnSpc>
                <a:spcPct val="100000"/>
              </a:lnSpc>
            </a:pPr>
            <a:r>
              <a:rPr lang="en-GB" sz="5400" dirty="0"/>
              <a:t>increased resilience</a:t>
            </a:r>
          </a:p>
          <a:p>
            <a:pPr>
              <a:lnSpc>
                <a:spcPct val="100000"/>
              </a:lnSpc>
            </a:pPr>
            <a:endParaRPr lang="en-GB" sz="5400" dirty="0"/>
          </a:p>
          <a:p>
            <a:pPr marL="0" indent="0">
              <a:buNone/>
            </a:pPr>
            <a:endParaRPr lang="en-GB" dirty="0"/>
          </a:p>
        </p:txBody>
      </p:sp>
    </p:spTree>
    <p:extLst>
      <p:ext uri="{BB962C8B-B14F-4D97-AF65-F5344CB8AC3E}">
        <p14:creationId xmlns:p14="http://schemas.microsoft.com/office/powerpoint/2010/main" val="232962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a:bodyPr>
          <a:lstStyle/>
          <a:p>
            <a:r>
              <a:rPr lang="en-GB" sz="8800" dirty="0"/>
              <a:t>Discussion 10 minutes</a:t>
            </a:r>
            <a:endParaRPr lang="en-GB" sz="8800" b="1" dirty="0"/>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1617280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fontScale="90000"/>
          </a:bodyPr>
          <a:lstStyle/>
          <a:p>
            <a:r>
              <a:rPr lang="en-GB" sz="8800" dirty="0"/>
              <a:t>Strategies to Improve ABC</a:t>
            </a:r>
            <a:endParaRPr lang="en-GB" sz="8800" b="1" dirty="0"/>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3017867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403498"/>
            <a:ext cx="11035553" cy="1325563"/>
          </a:xfrm>
        </p:spPr>
        <p:txBody>
          <a:bodyPr>
            <a:noAutofit/>
          </a:bodyPr>
          <a:lstStyle/>
          <a:p>
            <a:r>
              <a:rPr lang="en-GB" sz="5400" b="1" dirty="0"/>
              <a:t>Strategies</a:t>
            </a:r>
          </a:p>
        </p:txBody>
      </p:sp>
      <p:sp>
        <p:nvSpPr>
          <p:cNvPr id="8" name="Rectangle: Rounded Corners 7">
            <a:extLst>
              <a:ext uri="{FF2B5EF4-FFF2-40B4-BE49-F238E27FC236}">
                <a16:creationId xmlns:a16="http://schemas.microsoft.com/office/drawing/2014/main" id="{227F25B7-B858-4C1A-BA39-BA05DC43F7B3}"/>
              </a:ext>
            </a:extLst>
          </p:cNvPr>
          <p:cNvSpPr/>
          <p:nvPr/>
        </p:nvSpPr>
        <p:spPr>
          <a:xfrm>
            <a:off x="318248" y="1450593"/>
            <a:ext cx="2952666" cy="2047871"/>
          </a:xfrm>
          <a:prstGeom prst="roundRect">
            <a:avLst/>
          </a:prstGeom>
          <a:solidFill>
            <a:srgbClr val="001532"/>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Goal Setting</a:t>
            </a:r>
          </a:p>
        </p:txBody>
      </p:sp>
      <p:sp>
        <p:nvSpPr>
          <p:cNvPr id="5" name="Rectangle: Rounded Corners 4">
            <a:extLst>
              <a:ext uri="{FF2B5EF4-FFF2-40B4-BE49-F238E27FC236}">
                <a16:creationId xmlns:a16="http://schemas.microsoft.com/office/drawing/2014/main" id="{C799588E-3CB8-402E-9D39-0DF648C6C5F6}"/>
              </a:ext>
            </a:extLst>
          </p:cNvPr>
          <p:cNvSpPr/>
          <p:nvPr/>
        </p:nvSpPr>
        <p:spPr>
          <a:xfrm>
            <a:off x="2547098" y="3960856"/>
            <a:ext cx="2952666" cy="2047871"/>
          </a:xfrm>
          <a:prstGeom prst="roundRect">
            <a:avLst/>
          </a:prstGeom>
          <a:solidFill>
            <a:srgbClr val="265D93"/>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Managing Stress</a:t>
            </a:r>
          </a:p>
        </p:txBody>
      </p:sp>
      <p:sp>
        <p:nvSpPr>
          <p:cNvPr id="6" name="Rectangle: Rounded Corners 5">
            <a:extLst>
              <a:ext uri="{FF2B5EF4-FFF2-40B4-BE49-F238E27FC236}">
                <a16:creationId xmlns:a16="http://schemas.microsoft.com/office/drawing/2014/main" id="{A75D5393-C1AB-413A-A56C-34CD34E23196}"/>
              </a:ext>
            </a:extLst>
          </p:cNvPr>
          <p:cNvSpPr/>
          <p:nvPr/>
        </p:nvSpPr>
        <p:spPr>
          <a:xfrm>
            <a:off x="4524033" y="1465475"/>
            <a:ext cx="2952666" cy="2047871"/>
          </a:xfrm>
          <a:prstGeom prst="roundRect">
            <a:avLst/>
          </a:prstGeom>
          <a:solidFill>
            <a:srgbClr val="599795"/>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Positive Mindset</a:t>
            </a:r>
          </a:p>
        </p:txBody>
      </p:sp>
      <p:sp>
        <p:nvSpPr>
          <p:cNvPr id="10" name="Rectangle: Rounded Corners 9">
            <a:extLst>
              <a:ext uri="{FF2B5EF4-FFF2-40B4-BE49-F238E27FC236}">
                <a16:creationId xmlns:a16="http://schemas.microsoft.com/office/drawing/2014/main" id="{A77B4019-FC18-4111-A225-D641CB70D0BE}"/>
              </a:ext>
            </a:extLst>
          </p:cNvPr>
          <p:cNvSpPr/>
          <p:nvPr/>
        </p:nvSpPr>
        <p:spPr>
          <a:xfrm>
            <a:off x="6752883" y="3967395"/>
            <a:ext cx="2952666" cy="2047871"/>
          </a:xfrm>
          <a:prstGeom prst="roundRect">
            <a:avLst/>
          </a:prstGeom>
          <a:solidFill>
            <a:srgbClr val="8CB65D"/>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Seek Feedback and Use it Constructively</a:t>
            </a:r>
          </a:p>
        </p:txBody>
      </p:sp>
      <p:sp>
        <p:nvSpPr>
          <p:cNvPr id="11" name="Rectangle: Rounded Corners 10">
            <a:extLst>
              <a:ext uri="{FF2B5EF4-FFF2-40B4-BE49-F238E27FC236}">
                <a16:creationId xmlns:a16="http://schemas.microsoft.com/office/drawing/2014/main" id="{EBBCFA70-5ABB-4399-B445-16D18530CBF1}"/>
              </a:ext>
            </a:extLst>
          </p:cNvPr>
          <p:cNvSpPr/>
          <p:nvPr/>
        </p:nvSpPr>
        <p:spPr>
          <a:xfrm>
            <a:off x="8729818" y="1450593"/>
            <a:ext cx="2952666" cy="2047871"/>
          </a:xfrm>
          <a:prstGeom prst="roundRect">
            <a:avLst/>
          </a:prstGeom>
          <a:solidFill>
            <a:srgbClr val="C34E56"/>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Effective Study Habits</a:t>
            </a:r>
          </a:p>
        </p:txBody>
      </p:sp>
    </p:spTree>
    <p:extLst>
      <p:ext uri="{BB962C8B-B14F-4D97-AF65-F5344CB8AC3E}">
        <p14:creationId xmlns:p14="http://schemas.microsoft.com/office/powerpoint/2010/main" val="19273385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365125"/>
            <a:ext cx="11035553" cy="1325563"/>
          </a:xfrm>
        </p:spPr>
        <p:txBody>
          <a:bodyPr>
            <a:noAutofit/>
          </a:bodyPr>
          <a:lstStyle/>
          <a:p>
            <a:r>
              <a:rPr lang="en-GB" sz="5400" b="1" dirty="0"/>
              <a:t>Building &amp; Sustaining ABC</a:t>
            </a:r>
          </a:p>
        </p:txBody>
      </p:sp>
      <p:sp>
        <p:nvSpPr>
          <p:cNvPr id="10" name="Content Placeholder 9">
            <a:extLst>
              <a:ext uri="{FF2B5EF4-FFF2-40B4-BE49-F238E27FC236}">
                <a16:creationId xmlns:a16="http://schemas.microsoft.com/office/drawing/2014/main" id="{00C6F9A3-D887-41AA-8709-CD5A23E8E5D4}"/>
              </a:ext>
            </a:extLst>
          </p:cNvPr>
          <p:cNvSpPr>
            <a:spLocks noGrp="1"/>
          </p:cNvSpPr>
          <p:nvPr>
            <p:ph idx="1"/>
          </p:nvPr>
        </p:nvSpPr>
        <p:spPr>
          <a:xfrm>
            <a:off x="838199" y="1825625"/>
            <a:ext cx="10995213" cy="4351338"/>
          </a:xfrm>
        </p:spPr>
        <p:txBody>
          <a:bodyPr>
            <a:normAutofit fontScale="70000" lnSpcReduction="20000"/>
          </a:bodyPr>
          <a:lstStyle/>
          <a:p>
            <a:pPr>
              <a:lnSpc>
                <a:spcPct val="100000"/>
              </a:lnSpc>
            </a:pPr>
            <a:r>
              <a:rPr lang="en-GB" sz="6300" dirty="0">
                <a:solidFill>
                  <a:srgbClr val="040C28"/>
                </a:solidFill>
              </a:rPr>
              <a:t>Positive self-talk and affirmations</a:t>
            </a:r>
          </a:p>
          <a:p>
            <a:pPr>
              <a:lnSpc>
                <a:spcPct val="100000"/>
              </a:lnSpc>
            </a:pPr>
            <a:r>
              <a:rPr lang="en-GB" sz="6300" dirty="0">
                <a:solidFill>
                  <a:srgbClr val="040C28"/>
                </a:solidFill>
              </a:rPr>
              <a:t>Setting and achieving small, incremental goals</a:t>
            </a:r>
          </a:p>
          <a:p>
            <a:pPr>
              <a:lnSpc>
                <a:spcPct val="100000"/>
              </a:lnSpc>
            </a:pPr>
            <a:r>
              <a:rPr lang="en-GB" sz="6300" dirty="0">
                <a:solidFill>
                  <a:srgbClr val="040C28"/>
                </a:solidFill>
              </a:rPr>
              <a:t>Actively seeking and utilising constructive feedback</a:t>
            </a:r>
          </a:p>
          <a:p>
            <a:pPr>
              <a:lnSpc>
                <a:spcPct val="100000"/>
              </a:lnSpc>
            </a:pPr>
            <a:r>
              <a:rPr lang="en-GB" sz="6300" dirty="0">
                <a:solidFill>
                  <a:srgbClr val="040C28"/>
                </a:solidFill>
              </a:rPr>
              <a:t>Reflecting on past successes and learning from failures</a:t>
            </a:r>
          </a:p>
          <a:p>
            <a:pPr marL="0" indent="0">
              <a:buNone/>
            </a:pPr>
            <a:endParaRPr lang="en-GB" dirty="0"/>
          </a:p>
        </p:txBody>
      </p:sp>
    </p:spTree>
    <p:extLst>
      <p:ext uri="{BB962C8B-B14F-4D97-AF65-F5344CB8AC3E}">
        <p14:creationId xmlns:p14="http://schemas.microsoft.com/office/powerpoint/2010/main" val="22427678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365125"/>
            <a:ext cx="11035553" cy="1325563"/>
          </a:xfrm>
        </p:spPr>
        <p:txBody>
          <a:bodyPr>
            <a:noAutofit/>
          </a:bodyPr>
          <a:lstStyle/>
          <a:p>
            <a:r>
              <a:rPr lang="en-GB" sz="5400" b="1" dirty="0"/>
              <a:t>Feedback and Handling Criticism</a:t>
            </a:r>
          </a:p>
        </p:txBody>
      </p:sp>
      <p:sp>
        <p:nvSpPr>
          <p:cNvPr id="10" name="Content Placeholder 9">
            <a:extLst>
              <a:ext uri="{FF2B5EF4-FFF2-40B4-BE49-F238E27FC236}">
                <a16:creationId xmlns:a16="http://schemas.microsoft.com/office/drawing/2014/main" id="{00C6F9A3-D887-41AA-8709-CD5A23E8E5D4}"/>
              </a:ext>
            </a:extLst>
          </p:cNvPr>
          <p:cNvSpPr>
            <a:spLocks noGrp="1"/>
          </p:cNvSpPr>
          <p:nvPr>
            <p:ph idx="1"/>
          </p:nvPr>
        </p:nvSpPr>
        <p:spPr>
          <a:xfrm>
            <a:off x="838199" y="1825625"/>
            <a:ext cx="4957917" cy="4351338"/>
          </a:xfrm>
        </p:spPr>
        <p:txBody>
          <a:bodyPr>
            <a:normAutofit fontScale="62500" lnSpcReduction="20000"/>
          </a:bodyPr>
          <a:lstStyle/>
          <a:p>
            <a:pPr marL="0" indent="0">
              <a:lnSpc>
                <a:spcPct val="100000"/>
              </a:lnSpc>
              <a:buNone/>
            </a:pPr>
            <a:r>
              <a:rPr lang="en-GB" sz="8600" dirty="0">
                <a:solidFill>
                  <a:srgbClr val="040C28"/>
                </a:solidFill>
              </a:rPr>
              <a:t>Positive Feedback</a:t>
            </a:r>
          </a:p>
          <a:p>
            <a:pPr>
              <a:lnSpc>
                <a:spcPct val="100000"/>
              </a:lnSpc>
            </a:pPr>
            <a:r>
              <a:rPr lang="en-GB" sz="8600" dirty="0">
                <a:solidFill>
                  <a:srgbClr val="040C28"/>
                </a:solidFill>
              </a:rPr>
              <a:t>Increases confidence</a:t>
            </a:r>
          </a:p>
          <a:p>
            <a:pPr>
              <a:lnSpc>
                <a:spcPct val="100000"/>
              </a:lnSpc>
            </a:pPr>
            <a:r>
              <a:rPr lang="en-GB" sz="8600" dirty="0">
                <a:solidFill>
                  <a:srgbClr val="040C28"/>
                </a:solidFill>
              </a:rPr>
              <a:t>Fosters positive emotions</a:t>
            </a:r>
          </a:p>
          <a:p>
            <a:pPr marL="0" indent="0">
              <a:buNone/>
            </a:pPr>
            <a:endParaRPr lang="en-GB" dirty="0"/>
          </a:p>
        </p:txBody>
      </p:sp>
      <p:sp>
        <p:nvSpPr>
          <p:cNvPr id="2" name="Content Placeholder 9">
            <a:extLst>
              <a:ext uri="{FF2B5EF4-FFF2-40B4-BE49-F238E27FC236}">
                <a16:creationId xmlns:a16="http://schemas.microsoft.com/office/drawing/2014/main" id="{90448D40-5B62-3559-0A31-BCB9245F3FA8}"/>
              </a:ext>
            </a:extLst>
          </p:cNvPr>
          <p:cNvSpPr txBox="1">
            <a:spLocks/>
          </p:cNvSpPr>
          <p:nvPr/>
        </p:nvSpPr>
        <p:spPr>
          <a:xfrm>
            <a:off x="6771967" y="1690688"/>
            <a:ext cx="4426975" cy="435133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GB" sz="6300" dirty="0">
                <a:solidFill>
                  <a:srgbClr val="040C28"/>
                </a:solidFill>
              </a:rPr>
              <a:t>Negative Feedback</a:t>
            </a:r>
          </a:p>
          <a:p>
            <a:pPr>
              <a:lnSpc>
                <a:spcPct val="100000"/>
              </a:lnSpc>
            </a:pPr>
            <a:r>
              <a:rPr lang="en-GB" sz="6300" dirty="0">
                <a:solidFill>
                  <a:srgbClr val="040C28"/>
                </a:solidFill>
              </a:rPr>
              <a:t>Lowers confidence</a:t>
            </a:r>
          </a:p>
          <a:p>
            <a:pPr>
              <a:lnSpc>
                <a:spcPct val="100000"/>
              </a:lnSpc>
            </a:pPr>
            <a:r>
              <a:rPr lang="en-GB" sz="6300" dirty="0">
                <a:solidFill>
                  <a:srgbClr val="040C28"/>
                </a:solidFill>
              </a:rPr>
              <a:t>Can be upsetting</a:t>
            </a:r>
          </a:p>
          <a:p>
            <a:pPr marL="0" indent="0">
              <a:buFont typeface="Arial" panose="020B0604020202020204" pitchFamily="34" charset="0"/>
              <a:buNone/>
            </a:pPr>
            <a:endParaRPr lang="en-GB" dirty="0"/>
          </a:p>
        </p:txBody>
      </p:sp>
    </p:spTree>
    <p:extLst>
      <p:ext uri="{BB962C8B-B14F-4D97-AF65-F5344CB8AC3E}">
        <p14:creationId xmlns:p14="http://schemas.microsoft.com/office/powerpoint/2010/main" val="1584708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a:bodyPr>
          <a:lstStyle/>
          <a:p>
            <a:r>
              <a:rPr lang="en-GB" sz="8800" dirty="0"/>
              <a:t>Activity 2</a:t>
            </a:r>
            <a:endParaRPr lang="en-GB" sz="8800" b="1" dirty="0"/>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113038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365125"/>
            <a:ext cx="11035553" cy="1325563"/>
          </a:xfrm>
        </p:spPr>
        <p:txBody>
          <a:bodyPr>
            <a:noAutofit/>
          </a:bodyPr>
          <a:lstStyle/>
          <a:p>
            <a:r>
              <a:rPr lang="en-GB" sz="5400" b="1" dirty="0"/>
              <a:t>Activity 2</a:t>
            </a:r>
          </a:p>
        </p:txBody>
      </p:sp>
      <p:pic>
        <p:nvPicPr>
          <p:cNvPr id="2" name="Content Placeholder 1" descr="A qr code on a white background&#10;&#10;Description automatically generated">
            <a:extLst>
              <a:ext uri="{FF2B5EF4-FFF2-40B4-BE49-F238E27FC236}">
                <a16:creationId xmlns:a16="http://schemas.microsoft.com/office/drawing/2014/main" id="{9B03E7C3-B55A-CC7E-A444-C4C319B93430}"/>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7069316" y="1286757"/>
            <a:ext cx="4284485" cy="4284485"/>
          </a:xfrm>
          <a:prstGeom prst="rect">
            <a:avLst/>
          </a:prstGeom>
          <a:ln w="38100">
            <a:solidFill>
              <a:schemeClr val="tx2"/>
            </a:solidFill>
          </a:ln>
        </p:spPr>
      </p:pic>
      <p:sp>
        <p:nvSpPr>
          <p:cNvPr id="4" name="TextBox 3">
            <a:extLst>
              <a:ext uri="{FF2B5EF4-FFF2-40B4-BE49-F238E27FC236}">
                <a16:creationId xmlns:a16="http://schemas.microsoft.com/office/drawing/2014/main" id="{80D985ED-19D0-3E4D-5EB6-15F449B69B88}"/>
              </a:ext>
            </a:extLst>
          </p:cNvPr>
          <p:cNvSpPr txBox="1"/>
          <p:nvPr/>
        </p:nvSpPr>
        <p:spPr>
          <a:xfrm>
            <a:off x="450907" y="1903985"/>
            <a:ext cx="6098458" cy="3453959"/>
          </a:xfrm>
          <a:prstGeom prst="rect">
            <a:avLst/>
          </a:prstGeom>
          <a:noFill/>
        </p:spPr>
        <p:txBody>
          <a:bodyPr wrap="square">
            <a:spAutoFit/>
          </a:bodyPr>
          <a:lstStyle/>
          <a:p>
            <a:pPr>
              <a:lnSpc>
                <a:spcPct val="115000"/>
              </a:lnSpc>
              <a:spcBef>
                <a:spcPts val="500"/>
              </a:spcBef>
              <a:spcAft>
                <a:spcPts val="1000"/>
              </a:spcAft>
            </a:pPr>
            <a:r>
              <a:rPr lang="en-GB" sz="3200" dirty="0">
                <a:effectLst/>
                <a:latin typeface="Tw Cen MT" panose="020B0602020104020603" pitchFamily="34" charset="0"/>
                <a:ea typeface="Times New Roman" panose="02020603050405020304" pitchFamily="18" charset="0"/>
                <a:cs typeface="Times New Roman" panose="02020603050405020304" pitchFamily="18" charset="0"/>
              </a:rPr>
              <a:t>Scan the QR code to complete the Academic Behavioural Confidence Scale or go to </a:t>
            </a:r>
            <a:r>
              <a:rPr lang="en-GB" sz="3200" u="sng" dirty="0">
                <a:solidFill>
                  <a:srgbClr val="0563C1"/>
                </a:solidFill>
                <a:effectLst/>
                <a:latin typeface="Tw Cen MT" panose="020B0602020104020603" pitchFamily="34" charset="0"/>
                <a:ea typeface="Times New Roman" panose="02020603050405020304" pitchFamily="18" charset="0"/>
                <a:cs typeface="Times New Roman" panose="02020603050405020304" pitchFamily="18" charset="0"/>
                <a:hlinkClick r:id="rId5"/>
              </a:rPr>
              <a:t>https://liverpoolhope.fra1.qualtrics.com/jfe/form/SV_6u6CPvsXZ5Mou6q</a:t>
            </a:r>
            <a:r>
              <a:rPr lang="en-GB" sz="3200" dirty="0">
                <a:effectLst/>
                <a:latin typeface="Tw Cen MT" panose="020B0602020104020603" pitchFamily="34" charset="0"/>
                <a:ea typeface="Times New Roman" panose="02020603050405020304" pitchFamily="18" charset="0"/>
                <a:cs typeface="Times New Roman" panose="02020603050405020304" pitchFamily="18" charset="0"/>
              </a:rPr>
              <a:t>  </a:t>
            </a:r>
            <a:endParaRPr lang="en-GB" sz="2000" dirty="0">
              <a:effectLst/>
              <a:latin typeface="Tw Cen MT" panose="020B06020201040206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6406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a:bodyPr>
          <a:lstStyle/>
          <a:p>
            <a:r>
              <a:rPr lang="en-GB" sz="8800" dirty="0"/>
              <a:t>Discussion</a:t>
            </a:r>
            <a:endParaRPr lang="en-GB" sz="8800" b="1" dirty="0"/>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3207385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a:bodyPr>
          <a:lstStyle/>
          <a:p>
            <a:r>
              <a:rPr lang="en-GB" sz="8800" dirty="0"/>
              <a:t>Activity 3</a:t>
            </a:r>
            <a:endParaRPr lang="en-GB" sz="8800" b="1" dirty="0"/>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26086030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365125"/>
            <a:ext cx="11035553" cy="1325563"/>
          </a:xfrm>
        </p:spPr>
        <p:txBody>
          <a:bodyPr>
            <a:noAutofit/>
          </a:bodyPr>
          <a:lstStyle/>
          <a:p>
            <a:r>
              <a:rPr lang="en-GB" sz="5400" b="1" dirty="0"/>
              <a:t>Thinking about confidence</a:t>
            </a:r>
          </a:p>
        </p:txBody>
      </p:sp>
      <p:sp>
        <p:nvSpPr>
          <p:cNvPr id="10" name="Content Placeholder 9">
            <a:extLst>
              <a:ext uri="{FF2B5EF4-FFF2-40B4-BE49-F238E27FC236}">
                <a16:creationId xmlns:a16="http://schemas.microsoft.com/office/drawing/2014/main" id="{00C6F9A3-D887-41AA-8709-CD5A23E8E5D4}"/>
              </a:ext>
            </a:extLst>
          </p:cNvPr>
          <p:cNvSpPr>
            <a:spLocks noGrp="1"/>
          </p:cNvSpPr>
          <p:nvPr>
            <p:ph idx="1"/>
          </p:nvPr>
        </p:nvSpPr>
        <p:spPr>
          <a:xfrm>
            <a:off x="838199" y="1825625"/>
            <a:ext cx="10995213" cy="4351338"/>
          </a:xfrm>
        </p:spPr>
        <p:txBody>
          <a:bodyPr>
            <a:normAutofit/>
          </a:bodyPr>
          <a:lstStyle/>
          <a:p>
            <a:pPr>
              <a:lnSpc>
                <a:spcPct val="100000"/>
              </a:lnSpc>
            </a:pPr>
            <a:r>
              <a:rPr lang="en-GB" sz="6300" dirty="0">
                <a:solidFill>
                  <a:srgbClr val="040C28"/>
                </a:solidFill>
              </a:rPr>
              <a:t>Your own experiences</a:t>
            </a:r>
          </a:p>
          <a:p>
            <a:pPr>
              <a:lnSpc>
                <a:spcPct val="100000"/>
              </a:lnSpc>
            </a:pPr>
            <a:r>
              <a:rPr lang="en-GB" sz="6300" dirty="0">
                <a:solidFill>
                  <a:srgbClr val="040C28"/>
                </a:solidFill>
              </a:rPr>
              <a:t>From observing others</a:t>
            </a:r>
          </a:p>
          <a:p>
            <a:pPr>
              <a:lnSpc>
                <a:spcPct val="100000"/>
              </a:lnSpc>
            </a:pPr>
            <a:r>
              <a:rPr lang="en-GB" sz="6300" dirty="0">
                <a:solidFill>
                  <a:srgbClr val="040C28"/>
                </a:solidFill>
              </a:rPr>
              <a:t>From verbal feedback</a:t>
            </a:r>
          </a:p>
          <a:p>
            <a:pPr>
              <a:lnSpc>
                <a:spcPct val="100000"/>
              </a:lnSpc>
            </a:pPr>
            <a:r>
              <a:rPr lang="en-GB" sz="6300" dirty="0">
                <a:solidFill>
                  <a:srgbClr val="040C28"/>
                </a:solidFill>
              </a:rPr>
              <a:t>From your emotional state</a:t>
            </a:r>
          </a:p>
          <a:p>
            <a:pPr marL="0" indent="0">
              <a:buNone/>
            </a:pPr>
            <a:endParaRPr lang="en-GB" dirty="0"/>
          </a:p>
        </p:txBody>
      </p:sp>
    </p:spTree>
    <p:extLst>
      <p:ext uri="{BB962C8B-B14F-4D97-AF65-F5344CB8AC3E}">
        <p14:creationId xmlns:p14="http://schemas.microsoft.com/office/powerpoint/2010/main" val="14792497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a:bodyPr>
          <a:lstStyle/>
          <a:p>
            <a:r>
              <a:rPr lang="en-GB" sz="8800" dirty="0"/>
              <a:t>Discussion</a:t>
            </a:r>
            <a:endParaRPr lang="en-GB" sz="8800" b="1" dirty="0"/>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3552871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1166</TotalTime>
  <Words>428</Words>
  <Application>Microsoft Office PowerPoint</Application>
  <PresentationFormat>Widescreen</PresentationFormat>
  <Paragraphs>85</Paragraphs>
  <Slides>19</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Tw Cen MT</vt:lpstr>
      <vt:lpstr>Office Theme</vt:lpstr>
      <vt:lpstr>Building the Foundations of Success: Academic Confidence</vt:lpstr>
      <vt:lpstr>Agenda</vt:lpstr>
      <vt:lpstr>Academic Behavioural Confidence</vt:lpstr>
      <vt:lpstr>Aspects of Academic Behavioural Confidence</vt:lpstr>
      <vt:lpstr>Factors Influencing Academic Confidence</vt:lpstr>
      <vt:lpstr>Activity 1</vt:lpstr>
      <vt:lpstr>Activity 1 – Reflecting on influencing factors</vt:lpstr>
      <vt:lpstr>Positive Impact of ABC</vt:lpstr>
      <vt:lpstr>Discussion 10 minutes</vt:lpstr>
      <vt:lpstr>Strategies to Improve ABC</vt:lpstr>
      <vt:lpstr>Strategies</vt:lpstr>
      <vt:lpstr>Building &amp; Sustaining ABC</vt:lpstr>
      <vt:lpstr>Feedback and Handling Criticism</vt:lpstr>
      <vt:lpstr>Activity 2</vt:lpstr>
      <vt:lpstr>Activity 2</vt:lpstr>
      <vt:lpstr>Discussion</vt:lpstr>
      <vt:lpstr>Activity 3</vt:lpstr>
      <vt:lpstr>Thinking about confidence</vt:lpstr>
      <vt:lpstr>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Academic Motivation</dc:title>
  <dc:creator>Glen Pennington</dc:creator>
  <cp:lastModifiedBy>Glen Pennington</cp:lastModifiedBy>
  <cp:revision>42</cp:revision>
  <dcterms:created xsi:type="dcterms:W3CDTF">2024-09-02T13:40:42Z</dcterms:created>
  <dcterms:modified xsi:type="dcterms:W3CDTF">2024-09-12T11:28:24Z</dcterms:modified>
</cp:coreProperties>
</file>