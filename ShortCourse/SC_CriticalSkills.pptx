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61" r:id="rId4"/>
    <p:sldId id="258" r:id="rId5"/>
    <p:sldId id="264" r:id="rId6"/>
    <p:sldId id="270" r:id="rId7"/>
    <p:sldId id="260" r:id="rId8"/>
    <p:sldId id="263" r:id="rId9"/>
    <p:sldId id="262" r:id="rId10"/>
    <p:sldId id="271" r:id="rId11"/>
    <p:sldId id="273" r:id="rId12"/>
    <p:sldId id="272" r:id="rId13"/>
    <p:sldId id="27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8E301"/>
    <a:srgbClr val="001532"/>
    <a:srgbClr val="599795"/>
    <a:srgbClr val="C34E56"/>
    <a:srgbClr val="265D93"/>
    <a:srgbClr val="8CB65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70222" autoAdjust="0"/>
  </p:normalViewPr>
  <p:slideViewPr>
    <p:cSldViewPr snapToGrid="0" showGuides="1">
      <p:cViewPr>
        <p:scale>
          <a:sx n="66" d="100"/>
          <a:sy n="66" d="100"/>
        </p:scale>
        <p:origin x="686" y="-19"/>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F18783-81CF-438C-A241-3630B1A77772}" type="datetimeFigureOut">
              <a:rPr lang="en-GB" smtClean="0"/>
              <a:t>12/09/2024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8497FD-4BB8-4933-A7AC-0A33F9B9929E}" type="slidenum">
              <a:rPr lang="en-GB" smtClean="0"/>
              <a:t>‹#›</a:t>
            </a:fld>
            <a:endParaRPr lang="en-GB"/>
          </a:p>
        </p:txBody>
      </p:sp>
    </p:spTree>
    <p:extLst>
      <p:ext uri="{BB962C8B-B14F-4D97-AF65-F5344CB8AC3E}">
        <p14:creationId xmlns:p14="http://schemas.microsoft.com/office/powerpoint/2010/main" val="3216951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menti.com/alec5ehy9tta"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liverpoolhope.fra1.qualtrics.com/jfe/form/SV_0O3vhNsFk0CFMJE"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3</a:t>
            </a:fld>
            <a:endParaRPr lang="en-GB"/>
          </a:p>
        </p:txBody>
      </p:sp>
    </p:spTree>
    <p:extLst>
      <p:ext uri="{BB962C8B-B14F-4D97-AF65-F5344CB8AC3E}">
        <p14:creationId xmlns:p14="http://schemas.microsoft.com/office/powerpoint/2010/main" val="18776957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us, if we can support you to develop your critical skill, we are helping to prepare you for an effective and more enjoyable learning environment. Hopefully, we can inspire you to want to know more. To want to learn more, to want to become the best version if yourself for whatever direction your future will take you. That is the desire for me. To help inspire a love of learning.  Learning can’t and shouldn’t stop the second you complete the assessment, go to the pub after your exam, graduate…..</a:t>
            </a:r>
          </a:p>
          <a:p>
            <a:endParaRPr lang="en-GB" dirty="0"/>
          </a:p>
          <a:p>
            <a:r>
              <a:rPr lang="en-GB" dirty="0"/>
              <a:t>If you feel engaged with learning, if you feel the need to understand or know more, then we’ve done our job well.  You are on the best footing for a ridiculously rapidly changing workplace.</a:t>
            </a:r>
          </a:p>
          <a:p>
            <a:endParaRPr lang="en-GB" dirty="0"/>
          </a:p>
          <a:p>
            <a:r>
              <a:rPr lang="en-GB" dirty="0"/>
              <a:t>AI for example…when I started learning about AI….it was all driverless cars…I  can remember writing a seminar about intelligence and AI…will it ever be human like?….no more than 5 years later and it is something you should know about, appreciate, understand the pros and cons…..</a:t>
            </a:r>
          </a:p>
        </p:txBody>
      </p:sp>
      <p:sp>
        <p:nvSpPr>
          <p:cNvPr id="4" name="Slide Number Placeholder 3"/>
          <p:cNvSpPr>
            <a:spLocks noGrp="1"/>
          </p:cNvSpPr>
          <p:nvPr>
            <p:ph type="sldNum" sz="quarter" idx="5"/>
          </p:nvPr>
        </p:nvSpPr>
        <p:spPr/>
        <p:txBody>
          <a:bodyPr/>
          <a:lstStyle/>
          <a:p>
            <a:fld id="{9F8497FD-4BB8-4933-A7AC-0A33F9B9929E}" type="slidenum">
              <a:rPr lang="en-GB" smtClean="0"/>
              <a:t>4</a:t>
            </a:fld>
            <a:endParaRPr lang="en-GB"/>
          </a:p>
        </p:txBody>
      </p:sp>
    </p:spTree>
    <p:extLst>
      <p:ext uri="{BB962C8B-B14F-4D97-AF65-F5344CB8AC3E}">
        <p14:creationId xmlns:p14="http://schemas.microsoft.com/office/powerpoint/2010/main" val="28470629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5</a:t>
            </a:fld>
            <a:endParaRPr lang="en-GB"/>
          </a:p>
        </p:txBody>
      </p:sp>
    </p:spTree>
    <p:extLst>
      <p:ext uri="{BB962C8B-B14F-4D97-AF65-F5344CB8AC3E}">
        <p14:creationId xmlns:p14="http://schemas.microsoft.com/office/powerpoint/2010/main" val="850778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6</a:t>
            </a:fld>
            <a:endParaRPr lang="en-GB"/>
          </a:p>
        </p:txBody>
      </p:sp>
    </p:spTree>
    <p:extLst>
      <p:ext uri="{BB962C8B-B14F-4D97-AF65-F5344CB8AC3E}">
        <p14:creationId xmlns:p14="http://schemas.microsoft.com/office/powerpoint/2010/main" val="8566995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u="sng" dirty="0">
                <a:solidFill>
                  <a:srgbClr val="0563C1"/>
                </a:solidFill>
                <a:effectLst/>
                <a:latin typeface="Tw Cen MT" panose="020B0602020104020603" pitchFamily="34" charset="0"/>
                <a:ea typeface="Times New Roman" panose="02020603050405020304" pitchFamily="18" charset="0"/>
                <a:cs typeface="Times New Roman" panose="02020603050405020304" pitchFamily="18" charset="0"/>
                <a:hlinkClick r:id="rId3"/>
              </a:rPr>
              <a:t>https://www.menti.com/alec5ehy9tta</a:t>
            </a:r>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7</a:t>
            </a:fld>
            <a:endParaRPr lang="en-GB"/>
          </a:p>
        </p:txBody>
      </p:sp>
    </p:spTree>
    <p:extLst>
      <p:ext uri="{BB962C8B-B14F-4D97-AF65-F5344CB8AC3E}">
        <p14:creationId xmlns:p14="http://schemas.microsoft.com/office/powerpoint/2010/main" val="15346590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8</a:t>
            </a:fld>
            <a:endParaRPr lang="en-GB"/>
          </a:p>
        </p:txBody>
      </p:sp>
    </p:spTree>
    <p:extLst>
      <p:ext uri="{BB962C8B-B14F-4D97-AF65-F5344CB8AC3E}">
        <p14:creationId xmlns:p14="http://schemas.microsoft.com/office/powerpoint/2010/main" val="25692979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9</a:t>
            </a:fld>
            <a:endParaRPr lang="en-GB"/>
          </a:p>
        </p:txBody>
      </p:sp>
    </p:spTree>
    <p:extLst>
      <p:ext uri="{BB962C8B-B14F-4D97-AF65-F5344CB8AC3E}">
        <p14:creationId xmlns:p14="http://schemas.microsoft.com/office/powerpoint/2010/main" val="7141818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dirty="0">
                <a:solidFill>
                  <a:srgbClr val="000000"/>
                </a:solidFill>
                <a:effectLst/>
                <a:latin typeface="72"/>
                <a:hlinkClick r:id="rId3"/>
              </a:rPr>
              <a:t>https://liverpoolhope.fra1.qualtrics.com/jfe/form/SV_0O3vhNsFk0CFMJE</a:t>
            </a:r>
            <a:r>
              <a:rPr lang="en-GB" sz="1200" b="0" i="0" dirty="0">
                <a:solidFill>
                  <a:srgbClr val="000000"/>
                </a:solidFill>
                <a:effectLst/>
                <a:latin typeface="72"/>
              </a:rPr>
              <a:t> </a:t>
            </a:r>
            <a:endParaRPr lang="en-GB"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10</a:t>
            </a:fld>
            <a:endParaRPr lang="en-GB"/>
          </a:p>
        </p:txBody>
      </p:sp>
    </p:spTree>
    <p:extLst>
      <p:ext uri="{BB962C8B-B14F-4D97-AF65-F5344CB8AC3E}">
        <p14:creationId xmlns:p14="http://schemas.microsoft.com/office/powerpoint/2010/main" val="2575900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11</a:t>
            </a:fld>
            <a:endParaRPr lang="en-GB"/>
          </a:p>
        </p:txBody>
      </p:sp>
    </p:spTree>
    <p:extLst>
      <p:ext uri="{BB962C8B-B14F-4D97-AF65-F5344CB8AC3E}">
        <p14:creationId xmlns:p14="http://schemas.microsoft.com/office/powerpoint/2010/main" val="26627260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12</a:t>
            </a:fld>
            <a:endParaRPr lang="en-GB"/>
          </a:p>
        </p:txBody>
      </p:sp>
    </p:spTree>
    <p:extLst>
      <p:ext uri="{BB962C8B-B14F-4D97-AF65-F5344CB8AC3E}">
        <p14:creationId xmlns:p14="http://schemas.microsoft.com/office/powerpoint/2010/main" val="18468504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13</a:t>
            </a:fld>
            <a:endParaRPr lang="en-GB"/>
          </a:p>
        </p:txBody>
      </p:sp>
    </p:spTree>
    <p:extLst>
      <p:ext uri="{BB962C8B-B14F-4D97-AF65-F5344CB8AC3E}">
        <p14:creationId xmlns:p14="http://schemas.microsoft.com/office/powerpoint/2010/main" val="40707896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D5537-5F1A-479C-9DAF-5D26771C11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5571076-CB22-4E93-B16C-E3F474FF14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F2029B9-4319-457D-8117-59EE82A7CDB9}"/>
              </a:ext>
            </a:extLst>
          </p:cNvPr>
          <p:cNvSpPr>
            <a:spLocks noGrp="1"/>
          </p:cNvSpPr>
          <p:nvPr>
            <p:ph type="dt" sz="half" idx="10"/>
          </p:nvPr>
        </p:nvSpPr>
        <p:spPr/>
        <p:txBody>
          <a:bodyPr/>
          <a:lstStyle/>
          <a:p>
            <a:fld id="{C4F8C0DC-7841-48EE-8272-2E71B8950332}" type="datetimeFigureOut">
              <a:rPr lang="en-GB" smtClean="0"/>
              <a:t>12/09/2024</a:t>
            </a:fld>
            <a:endParaRPr lang="en-GB"/>
          </a:p>
        </p:txBody>
      </p:sp>
      <p:sp>
        <p:nvSpPr>
          <p:cNvPr id="5" name="Footer Placeholder 4">
            <a:extLst>
              <a:ext uri="{FF2B5EF4-FFF2-40B4-BE49-F238E27FC236}">
                <a16:creationId xmlns:a16="http://schemas.microsoft.com/office/drawing/2014/main" id="{F9E4845B-E394-42A2-A0B9-54D2F3FA19C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D12AF69-7D41-4FC6-8F1B-0FA0503372A3}"/>
              </a:ext>
            </a:extLst>
          </p:cNvPr>
          <p:cNvSpPr>
            <a:spLocks noGrp="1"/>
          </p:cNvSpPr>
          <p:nvPr>
            <p:ph type="sldNum" sz="quarter" idx="12"/>
          </p:nvPr>
        </p:nvSpPr>
        <p:spPr/>
        <p:txBody>
          <a:bodyPr/>
          <a:lstStyle/>
          <a:p>
            <a:fld id="{5595D00E-7376-49EC-B215-91493CB406BF}" type="slidenum">
              <a:rPr lang="en-GB" smtClean="0"/>
              <a:t>‹#›</a:t>
            </a:fld>
            <a:endParaRPr lang="en-GB"/>
          </a:p>
        </p:txBody>
      </p:sp>
    </p:spTree>
    <p:extLst>
      <p:ext uri="{BB962C8B-B14F-4D97-AF65-F5344CB8AC3E}">
        <p14:creationId xmlns:p14="http://schemas.microsoft.com/office/powerpoint/2010/main" val="2728573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CD29B-60A6-41FC-9B69-DEEB4F66C68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9F128B9-16FF-4677-8C01-2131C4E4D09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169426E-6336-461F-B428-428F93A323C6}"/>
              </a:ext>
            </a:extLst>
          </p:cNvPr>
          <p:cNvSpPr>
            <a:spLocks noGrp="1"/>
          </p:cNvSpPr>
          <p:nvPr>
            <p:ph type="dt" sz="half" idx="10"/>
          </p:nvPr>
        </p:nvSpPr>
        <p:spPr/>
        <p:txBody>
          <a:bodyPr/>
          <a:lstStyle/>
          <a:p>
            <a:fld id="{C4F8C0DC-7841-48EE-8272-2E71B8950332}" type="datetimeFigureOut">
              <a:rPr lang="en-GB" smtClean="0"/>
              <a:t>12/09/2024</a:t>
            </a:fld>
            <a:endParaRPr lang="en-GB"/>
          </a:p>
        </p:txBody>
      </p:sp>
      <p:sp>
        <p:nvSpPr>
          <p:cNvPr id="5" name="Footer Placeholder 4">
            <a:extLst>
              <a:ext uri="{FF2B5EF4-FFF2-40B4-BE49-F238E27FC236}">
                <a16:creationId xmlns:a16="http://schemas.microsoft.com/office/drawing/2014/main" id="{AF0F82FD-6DAC-445B-94D9-1033044508F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6D38F2C-F143-4531-8A48-7291101ACDFC}"/>
              </a:ext>
            </a:extLst>
          </p:cNvPr>
          <p:cNvSpPr>
            <a:spLocks noGrp="1"/>
          </p:cNvSpPr>
          <p:nvPr>
            <p:ph type="sldNum" sz="quarter" idx="12"/>
          </p:nvPr>
        </p:nvSpPr>
        <p:spPr/>
        <p:txBody>
          <a:bodyPr/>
          <a:lstStyle/>
          <a:p>
            <a:fld id="{5595D00E-7376-49EC-B215-91493CB406BF}" type="slidenum">
              <a:rPr lang="en-GB" smtClean="0"/>
              <a:t>‹#›</a:t>
            </a:fld>
            <a:endParaRPr lang="en-GB"/>
          </a:p>
        </p:txBody>
      </p:sp>
    </p:spTree>
    <p:extLst>
      <p:ext uri="{BB962C8B-B14F-4D97-AF65-F5344CB8AC3E}">
        <p14:creationId xmlns:p14="http://schemas.microsoft.com/office/powerpoint/2010/main" val="751736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3755B-C392-4EFE-A6E5-B209F232A3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E300864-4B87-4F09-8EA6-741AEE57AC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C943268-49F7-4A94-9B9F-F7652D056E86}"/>
              </a:ext>
            </a:extLst>
          </p:cNvPr>
          <p:cNvSpPr>
            <a:spLocks noGrp="1"/>
          </p:cNvSpPr>
          <p:nvPr>
            <p:ph type="dt" sz="half" idx="10"/>
          </p:nvPr>
        </p:nvSpPr>
        <p:spPr/>
        <p:txBody>
          <a:bodyPr/>
          <a:lstStyle/>
          <a:p>
            <a:fld id="{C4F8C0DC-7841-48EE-8272-2E71B8950332}" type="datetimeFigureOut">
              <a:rPr lang="en-GB" smtClean="0"/>
              <a:t>12/09/2024</a:t>
            </a:fld>
            <a:endParaRPr lang="en-GB"/>
          </a:p>
        </p:txBody>
      </p:sp>
      <p:sp>
        <p:nvSpPr>
          <p:cNvPr id="5" name="Footer Placeholder 4">
            <a:extLst>
              <a:ext uri="{FF2B5EF4-FFF2-40B4-BE49-F238E27FC236}">
                <a16:creationId xmlns:a16="http://schemas.microsoft.com/office/drawing/2014/main" id="{25BD7C3C-F870-472E-B948-680654360DD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5D4DC7-D1C0-47C4-8F1A-0B1D8E882455}"/>
              </a:ext>
            </a:extLst>
          </p:cNvPr>
          <p:cNvSpPr>
            <a:spLocks noGrp="1"/>
          </p:cNvSpPr>
          <p:nvPr>
            <p:ph type="sldNum" sz="quarter" idx="12"/>
          </p:nvPr>
        </p:nvSpPr>
        <p:spPr/>
        <p:txBody>
          <a:bodyPr/>
          <a:lstStyle/>
          <a:p>
            <a:fld id="{5595D00E-7376-49EC-B215-91493CB406BF}" type="slidenum">
              <a:rPr lang="en-GB" smtClean="0"/>
              <a:t>‹#›</a:t>
            </a:fld>
            <a:endParaRPr lang="en-GB"/>
          </a:p>
        </p:txBody>
      </p:sp>
    </p:spTree>
    <p:extLst>
      <p:ext uri="{BB962C8B-B14F-4D97-AF65-F5344CB8AC3E}">
        <p14:creationId xmlns:p14="http://schemas.microsoft.com/office/powerpoint/2010/main" val="885148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069AF-4306-4CA7-8CFE-7AEF93AD6CA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0771848-EA7A-4A33-88EF-4074903ED5D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59ECFB1-01AE-4F4B-9BF6-BDB2C0CAA92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DC52744-AFCA-4EB3-AE7C-CB5A87210993}"/>
              </a:ext>
            </a:extLst>
          </p:cNvPr>
          <p:cNvSpPr>
            <a:spLocks noGrp="1"/>
          </p:cNvSpPr>
          <p:nvPr>
            <p:ph type="dt" sz="half" idx="10"/>
          </p:nvPr>
        </p:nvSpPr>
        <p:spPr/>
        <p:txBody>
          <a:bodyPr/>
          <a:lstStyle/>
          <a:p>
            <a:fld id="{C4F8C0DC-7841-48EE-8272-2E71B8950332}" type="datetimeFigureOut">
              <a:rPr lang="en-GB" smtClean="0"/>
              <a:t>12/09/2024</a:t>
            </a:fld>
            <a:endParaRPr lang="en-GB"/>
          </a:p>
        </p:txBody>
      </p:sp>
      <p:sp>
        <p:nvSpPr>
          <p:cNvPr id="6" name="Footer Placeholder 5">
            <a:extLst>
              <a:ext uri="{FF2B5EF4-FFF2-40B4-BE49-F238E27FC236}">
                <a16:creationId xmlns:a16="http://schemas.microsoft.com/office/drawing/2014/main" id="{14054DE6-BFA5-4811-B374-97D5D6971FD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BFC485A-5064-4EF9-96E2-0ED087184BC1}"/>
              </a:ext>
            </a:extLst>
          </p:cNvPr>
          <p:cNvSpPr>
            <a:spLocks noGrp="1"/>
          </p:cNvSpPr>
          <p:nvPr>
            <p:ph type="sldNum" sz="quarter" idx="12"/>
          </p:nvPr>
        </p:nvSpPr>
        <p:spPr/>
        <p:txBody>
          <a:bodyPr/>
          <a:lstStyle/>
          <a:p>
            <a:fld id="{5595D00E-7376-49EC-B215-91493CB406BF}" type="slidenum">
              <a:rPr lang="en-GB" smtClean="0"/>
              <a:t>‹#›</a:t>
            </a:fld>
            <a:endParaRPr lang="en-GB"/>
          </a:p>
        </p:txBody>
      </p:sp>
    </p:spTree>
    <p:extLst>
      <p:ext uri="{BB962C8B-B14F-4D97-AF65-F5344CB8AC3E}">
        <p14:creationId xmlns:p14="http://schemas.microsoft.com/office/powerpoint/2010/main" val="3300336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97F59-3735-406F-B0A5-D15F598EEB3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E3D6AF-DD29-4E32-B453-532D6E936B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C48E5A7-5AEC-429C-A55F-40FB2C44F69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FF019B6-E0EF-4760-8304-C4FFE466F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691E6B2-25CE-4F62-B6D0-BD88CE0DC05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DA1B5F9-6195-481C-B749-4DD893DF0755}"/>
              </a:ext>
            </a:extLst>
          </p:cNvPr>
          <p:cNvSpPr>
            <a:spLocks noGrp="1"/>
          </p:cNvSpPr>
          <p:nvPr>
            <p:ph type="dt" sz="half" idx="10"/>
          </p:nvPr>
        </p:nvSpPr>
        <p:spPr/>
        <p:txBody>
          <a:bodyPr/>
          <a:lstStyle/>
          <a:p>
            <a:fld id="{C4F8C0DC-7841-48EE-8272-2E71B8950332}" type="datetimeFigureOut">
              <a:rPr lang="en-GB" smtClean="0"/>
              <a:t>12/09/2024</a:t>
            </a:fld>
            <a:endParaRPr lang="en-GB"/>
          </a:p>
        </p:txBody>
      </p:sp>
      <p:sp>
        <p:nvSpPr>
          <p:cNvPr id="8" name="Footer Placeholder 7">
            <a:extLst>
              <a:ext uri="{FF2B5EF4-FFF2-40B4-BE49-F238E27FC236}">
                <a16:creationId xmlns:a16="http://schemas.microsoft.com/office/drawing/2014/main" id="{82CF18D3-859B-4CA7-BD40-24862C74E0E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4480F71-4C20-46ED-883E-FBD706B223F3}"/>
              </a:ext>
            </a:extLst>
          </p:cNvPr>
          <p:cNvSpPr>
            <a:spLocks noGrp="1"/>
          </p:cNvSpPr>
          <p:nvPr>
            <p:ph type="sldNum" sz="quarter" idx="12"/>
          </p:nvPr>
        </p:nvSpPr>
        <p:spPr/>
        <p:txBody>
          <a:bodyPr/>
          <a:lstStyle/>
          <a:p>
            <a:fld id="{5595D00E-7376-49EC-B215-91493CB406BF}" type="slidenum">
              <a:rPr lang="en-GB" smtClean="0"/>
              <a:t>‹#›</a:t>
            </a:fld>
            <a:endParaRPr lang="en-GB"/>
          </a:p>
        </p:txBody>
      </p:sp>
    </p:spTree>
    <p:extLst>
      <p:ext uri="{BB962C8B-B14F-4D97-AF65-F5344CB8AC3E}">
        <p14:creationId xmlns:p14="http://schemas.microsoft.com/office/powerpoint/2010/main" val="3781646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8E392-AF96-459B-A2F0-0331354A1EB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54A8F4F-7EA6-451E-8F2D-9688EBE48647}"/>
              </a:ext>
            </a:extLst>
          </p:cNvPr>
          <p:cNvSpPr>
            <a:spLocks noGrp="1"/>
          </p:cNvSpPr>
          <p:nvPr>
            <p:ph type="dt" sz="half" idx="10"/>
          </p:nvPr>
        </p:nvSpPr>
        <p:spPr/>
        <p:txBody>
          <a:bodyPr/>
          <a:lstStyle/>
          <a:p>
            <a:fld id="{C4F8C0DC-7841-48EE-8272-2E71B8950332}" type="datetimeFigureOut">
              <a:rPr lang="en-GB" smtClean="0"/>
              <a:t>12/09/2024</a:t>
            </a:fld>
            <a:endParaRPr lang="en-GB"/>
          </a:p>
        </p:txBody>
      </p:sp>
      <p:sp>
        <p:nvSpPr>
          <p:cNvPr id="4" name="Footer Placeholder 3">
            <a:extLst>
              <a:ext uri="{FF2B5EF4-FFF2-40B4-BE49-F238E27FC236}">
                <a16:creationId xmlns:a16="http://schemas.microsoft.com/office/drawing/2014/main" id="{626F7048-B2F5-47C6-9290-670BB4EDA64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8E2503C-08C1-4F35-8B5E-8A6FD51C55E3}"/>
              </a:ext>
            </a:extLst>
          </p:cNvPr>
          <p:cNvSpPr>
            <a:spLocks noGrp="1"/>
          </p:cNvSpPr>
          <p:nvPr>
            <p:ph type="sldNum" sz="quarter" idx="12"/>
          </p:nvPr>
        </p:nvSpPr>
        <p:spPr/>
        <p:txBody>
          <a:bodyPr/>
          <a:lstStyle/>
          <a:p>
            <a:fld id="{5595D00E-7376-49EC-B215-91493CB406BF}" type="slidenum">
              <a:rPr lang="en-GB" smtClean="0"/>
              <a:t>‹#›</a:t>
            </a:fld>
            <a:endParaRPr lang="en-GB"/>
          </a:p>
        </p:txBody>
      </p:sp>
    </p:spTree>
    <p:extLst>
      <p:ext uri="{BB962C8B-B14F-4D97-AF65-F5344CB8AC3E}">
        <p14:creationId xmlns:p14="http://schemas.microsoft.com/office/powerpoint/2010/main" val="1763424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FFA664-B2E2-4E3F-B9FF-AF0A8BD5CE85}"/>
              </a:ext>
            </a:extLst>
          </p:cNvPr>
          <p:cNvSpPr>
            <a:spLocks noGrp="1"/>
          </p:cNvSpPr>
          <p:nvPr>
            <p:ph type="dt" sz="half" idx="10"/>
          </p:nvPr>
        </p:nvSpPr>
        <p:spPr/>
        <p:txBody>
          <a:bodyPr/>
          <a:lstStyle/>
          <a:p>
            <a:fld id="{C4F8C0DC-7841-48EE-8272-2E71B8950332}" type="datetimeFigureOut">
              <a:rPr lang="en-GB" smtClean="0"/>
              <a:t>12/09/2024</a:t>
            </a:fld>
            <a:endParaRPr lang="en-GB"/>
          </a:p>
        </p:txBody>
      </p:sp>
      <p:sp>
        <p:nvSpPr>
          <p:cNvPr id="3" name="Footer Placeholder 2">
            <a:extLst>
              <a:ext uri="{FF2B5EF4-FFF2-40B4-BE49-F238E27FC236}">
                <a16:creationId xmlns:a16="http://schemas.microsoft.com/office/drawing/2014/main" id="{172688A5-4769-48DC-85F4-CFCACD29684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8046938-E553-4488-9D47-D981BCC019E2}"/>
              </a:ext>
            </a:extLst>
          </p:cNvPr>
          <p:cNvSpPr>
            <a:spLocks noGrp="1"/>
          </p:cNvSpPr>
          <p:nvPr>
            <p:ph type="sldNum" sz="quarter" idx="12"/>
          </p:nvPr>
        </p:nvSpPr>
        <p:spPr/>
        <p:txBody>
          <a:bodyPr/>
          <a:lstStyle/>
          <a:p>
            <a:fld id="{5595D00E-7376-49EC-B215-91493CB406BF}" type="slidenum">
              <a:rPr lang="en-GB" smtClean="0"/>
              <a:t>‹#›</a:t>
            </a:fld>
            <a:endParaRPr lang="en-GB"/>
          </a:p>
        </p:txBody>
      </p:sp>
    </p:spTree>
    <p:extLst>
      <p:ext uri="{BB962C8B-B14F-4D97-AF65-F5344CB8AC3E}">
        <p14:creationId xmlns:p14="http://schemas.microsoft.com/office/powerpoint/2010/main" val="267910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85CC9-E4E1-480A-BD64-955BEB5E84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E06326E-D8CE-48E2-8F51-88F4A6F5D6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F94BA95-FE95-4057-B943-DE8DBE09A4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30818E9-037A-48D2-B791-6CF085AB645A}"/>
              </a:ext>
            </a:extLst>
          </p:cNvPr>
          <p:cNvSpPr>
            <a:spLocks noGrp="1"/>
          </p:cNvSpPr>
          <p:nvPr>
            <p:ph type="dt" sz="half" idx="10"/>
          </p:nvPr>
        </p:nvSpPr>
        <p:spPr/>
        <p:txBody>
          <a:bodyPr/>
          <a:lstStyle/>
          <a:p>
            <a:fld id="{C4F8C0DC-7841-48EE-8272-2E71B8950332}" type="datetimeFigureOut">
              <a:rPr lang="en-GB" smtClean="0"/>
              <a:t>12/09/2024</a:t>
            </a:fld>
            <a:endParaRPr lang="en-GB"/>
          </a:p>
        </p:txBody>
      </p:sp>
      <p:sp>
        <p:nvSpPr>
          <p:cNvPr id="6" name="Footer Placeholder 5">
            <a:extLst>
              <a:ext uri="{FF2B5EF4-FFF2-40B4-BE49-F238E27FC236}">
                <a16:creationId xmlns:a16="http://schemas.microsoft.com/office/drawing/2014/main" id="{49A8AA0A-35C2-4D87-84ED-60EB6F81370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B579A6C-E418-401D-B6A8-19BDEB685CF3}"/>
              </a:ext>
            </a:extLst>
          </p:cNvPr>
          <p:cNvSpPr>
            <a:spLocks noGrp="1"/>
          </p:cNvSpPr>
          <p:nvPr>
            <p:ph type="sldNum" sz="quarter" idx="12"/>
          </p:nvPr>
        </p:nvSpPr>
        <p:spPr/>
        <p:txBody>
          <a:bodyPr/>
          <a:lstStyle/>
          <a:p>
            <a:fld id="{5595D00E-7376-49EC-B215-91493CB406BF}" type="slidenum">
              <a:rPr lang="en-GB" smtClean="0"/>
              <a:t>‹#›</a:t>
            </a:fld>
            <a:endParaRPr lang="en-GB"/>
          </a:p>
        </p:txBody>
      </p:sp>
    </p:spTree>
    <p:extLst>
      <p:ext uri="{BB962C8B-B14F-4D97-AF65-F5344CB8AC3E}">
        <p14:creationId xmlns:p14="http://schemas.microsoft.com/office/powerpoint/2010/main" val="3198933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FECCE-8DA4-4FEE-90EE-8486843A7F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2E22CEC-EAFD-4A61-A009-66EF2C594C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CAA07B0-EA7B-4D81-B112-BE384CB59F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290193B-D324-43AC-B092-CF18C9F14EF4}"/>
              </a:ext>
            </a:extLst>
          </p:cNvPr>
          <p:cNvSpPr>
            <a:spLocks noGrp="1"/>
          </p:cNvSpPr>
          <p:nvPr>
            <p:ph type="dt" sz="half" idx="10"/>
          </p:nvPr>
        </p:nvSpPr>
        <p:spPr/>
        <p:txBody>
          <a:bodyPr/>
          <a:lstStyle/>
          <a:p>
            <a:fld id="{C4F8C0DC-7841-48EE-8272-2E71B8950332}" type="datetimeFigureOut">
              <a:rPr lang="en-GB" smtClean="0"/>
              <a:t>12/09/2024</a:t>
            </a:fld>
            <a:endParaRPr lang="en-GB"/>
          </a:p>
        </p:txBody>
      </p:sp>
      <p:sp>
        <p:nvSpPr>
          <p:cNvPr id="6" name="Footer Placeholder 5">
            <a:extLst>
              <a:ext uri="{FF2B5EF4-FFF2-40B4-BE49-F238E27FC236}">
                <a16:creationId xmlns:a16="http://schemas.microsoft.com/office/drawing/2014/main" id="{584DB412-EB77-4CC2-9F68-4E657DD777F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7A8B7A7-109C-4003-8E40-5288756336C1}"/>
              </a:ext>
            </a:extLst>
          </p:cNvPr>
          <p:cNvSpPr>
            <a:spLocks noGrp="1"/>
          </p:cNvSpPr>
          <p:nvPr>
            <p:ph type="sldNum" sz="quarter" idx="12"/>
          </p:nvPr>
        </p:nvSpPr>
        <p:spPr/>
        <p:txBody>
          <a:bodyPr/>
          <a:lstStyle/>
          <a:p>
            <a:fld id="{5595D00E-7376-49EC-B215-91493CB406BF}" type="slidenum">
              <a:rPr lang="en-GB" smtClean="0"/>
              <a:t>‹#›</a:t>
            </a:fld>
            <a:endParaRPr lang="en-GB"/>
          </a:p>
        </p:txBody>
      </p:sp>
    </p:spTree>
    <p:extLst>
      <p:ext uri="{BB962C8B-B14F-4D97-AF65-F5344CB8AC3E}">
        <p14:creationId xmlns:p14="http://schemas.microsoft.com/office/powerpoint/2010/main" val="3099166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512B7-8784-42F8-B3D9-548FAA070D4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B7EB06D-FBF0-4141-876E-9F36D940BA7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A420BD2-E89F-468D-AAB9-631D43000976}"/>
              </a:ext>
            </a:extLst>
          </p:cNvPr>
          <p:cNvSpPr>
            <a:spLocks noGrp="1"/>
          </p:cNvSpPr>
          <p:nvPr>
            <p:ph type="dt" sz="half" idx="10"/>
          </p:nvPr>
        </p:nvSpPr>
        <p:spPr/>
        <p:txBody>
          <a:bodyPr/>
          <a:lstStyle/>
          <a:p>
            <a:fld id="{C4F8C0DC-7841-48EE-8272-2E71B8950332}" type="datetimeFigureOut">
              <a:rPr lang="en-GB" smtClean="0"/>
              <a:t>12/09/2024</a:t>
            </a:fld>
            <a:endParaRPr lang="en-GB"/>
          </a:p>
        </p:txBody>
      </p:sp>
      <p:sp>
        <p:nvSpPr>
          <p:cNvPr id="5" name="Footer Placeholder 4">
            <a:extLst>
              <a:ext uri="{FF2B5EF4-FFF2-40B4-BE49-F238E27FC236}">
                <a16:creationId xmlns:a16="http://schemas.microsoft.com/office/drawing/2014/main" id="{3F10A3E5-64B6-4931-B9EF-1CF87699722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F57C144-07BC-4CD1-8F73-5E2EEFD832F8}"/>
              </a:ext>
            </a:extLst>
          </p:cNvPr>
          <p:cNvSpPr>
            <a:spLocks noGrp="1"/>
          </p:cNvSpPr>
          <p:nvPr>
            <p:ph type="sldNum" sz="quarter" idx="12"/>
          </p:nvPr>
        </p:nvSpPr>
        <p:spPr/>
        <p:txBody>
          <a:bodyPr/>
          <a:lstStyle/>
          <a:p>
            <a:fld id="{5595D00E-7376-49EC-B215-91493CB406BF}" type="slidenum">
              <a:rPr lang="en-GB" smtClean="0"/>
              <a:t>‹#›</a:t>
            </a:fld>
            <a:endParaRPr lang="en-GB"/>
          </a:p>
        </p:txBody>
      </p:sp>
    </p:spTree>
    <p:extLst>
      <p:ext uri="{BB962C8B-B14F-4D97-AF65-F5344CB8AC3E}">
        <p14:creationId xmlns:p14="http://schemas.microsoft.com/office/powerpoint/2010/main" val="738576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3F3443-076B-4F77-8932-C0D7AABB383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AC109F8-E9AB-4F52-83A1-989308CE14C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E0708F4-ECE7-4741-94B2-9FBF9AEDD620}"/>
              </a:ext>
            </a:extLst>
          </p:cNvPr>
          <p:cNvSpPr>
            <a:spLocks noGrp="1"/>
          </p:cNvSpPr>
          <p:nvPr>
            <p:ph type="dt" sz="half" idx="10"/>
          </p:nvPr>
        </p:nvSpPr>
        <p:spPr/>
        <p:txBody>
          <a:bodyPr/>
          <a:lstStyle/>
          <a:p>
            <a:fld id="{C4F8C0DC-7841-48EE-8272-2E71B8950332}" type="datetimeFigureOut">
              <a:rPr lang="en-GB" smtClean="0"/>
              <a:t>12/09/2024</a:t>
            </a:fld>
            <a:endParaRPr lang="en-GB"/>
          </a:p>
        </p:txBody>
      </p:sp>
      <p:sp>
        <p:nvSpPr>
          <p:cNvPr id="5" name="Footer Placeholder 4">
            <a:extLst>
              <a:ext uri="{FF2B5EF4-FFF2-40B4-BE49-F238E27FC236}">
                <a16:creationId xmlns:a16="http://schemas.microsoft.com/office/drawing/2014/main" id="{7A1B8DF0-D613-443A-88EB-3D971E694DC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EF36B2F-1503-4511-9E35-9A1CF9072B8A}"/>
              </a:ext>
            </a:extLst>
          </p:cNvPr>
          <p:cNvSpPr>
            <a:spLocks noGrp="1"/>
          </p:cNvSpPr>
          <p:nvPr>
            <p:ph type="sldNum" sz="quarter" idx="12"/>
          </p:nvPr>
        </p:nvSpPr>
        <p:spPr/>
        <p:txBody>
          <a:bodyPr/>
          <a:lstStyle/>
          <a:p>
            <a:fld id="{5595D00E-7376-49EC-B215-91493CB406BF}" type="slidenum">
              <a:rPr lang="en-GB" smtClean="0"/>
              <a:t>‹#›</a:t>
            </a:fld>
            <a:endParaRPr lang="en-GB"/>
          </a:p>
        </p:txBody>
      </p:sp>
    </p:spTree>
    <p:extLst>
      <p:ext uri="{BB962C8B-B14F-4D97-AF65-F5344CB8AC3E}">
        <p14:creationId xmlns:p14="http://schemas.microsoft.com/office/powerpoint/2010/main" val="2324397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C07114-8579-4949-90F0-C1D743D139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7EE4FD9-7073-487E-96A5-1FB03E6868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34041DC-486C-4335-9371-BDBFC25BA7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F8C0DC-7841-48EE-8272-2E71B8950332}" type="datetimeFigureOut">
              <a:rPr lang="en-GB" smtClean="0"/>
              <a:t>12/09/2024</a:t>
            </a:fld>
            <a:endParaRPr lang="en-GB"/>
          </a:p>
        </p:txBody>
      </p:sp>
      <p:sp>
        <p:nvSpPr>
          <p:cNvPr id="5" name="Footer Placeholder 4">
            <a:extLst>
              <a:ext uri="{FF2B5EF4-FFF2-40B4-BE49-F238E27FC236}">
                <a16:creationId xmlns:a16="http://schemas.microsoft.com/office/drawing/2014/main" id="{A852B1C4-2F2E-4019-A81B-36A3E40BE0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184DE1BE-1478-4342-B439-12DD55675E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95D00E-7376-49EC-B215-91493CB406BF}" type="slidenum">
              <a:rPr lang="en-GB" smtClean="0"/>
              <a:t>‹#›</a:t>
            </a:fld>
            <a:endParaRPr lang="en-GB"/>
          </a:p>
        </p:txBody>
      </p:sp>
    </p:spTree>
    <p:extLst>
      <p:ext uri="{BB962C8B-B14F-4D97-AF65-F5344CB8AC3E}">
        <p14:creationId xmlns:p14="http://schemas.microsoft.com/office/powerpoint/2010/main" val="3801244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hyperlink" Target="https://www.menti.com/alec5ehy9tta" TargetMode="Externa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hyperlink" Target="https://liverpoolhope.fra1.qualtrics.com/jfe/form/SV_0O3vhNsFk0CFMJE"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AEA1-A082-4E34-99B2-D439B5392380}"/>
              </a:ext>
            </a:extLst>
          </p:cNvPr>
          <p:cNvSpPr>
            <a:spLocks noGrp="1"/>
          </p:cNvSpPr>
          <p:nvPr>
            <p:ph type="ctrTitle"/>
          </p:nvPr>
        </p:nvSpPr>
        <p:spPr>
          <a:xfrm>
            <a:off x="349624" y="2235200"/>
            <a:ext cx="11510682" cy="2387600"/>
          </a:xfrm>
        </p:spPr>
        <p:txBody>
          <a:bodyPr>
            <a:normAutofit fontScale="90000"/>
          </a:bodyPr>
          <a:lstStyle/>
          <a:p>
            <a:r>
              <a:rPr lang="en-GB" sz="8800" dirty="0"/>
              <a:t>Building the Foundations of Success: Confidence with Key Skills</a:t>
            </a:r>
            <a:endParaRPr lang="en-GB" sz="8800" b="1" dirty="0"/>
          </a:p>
        </p:txBody>
      </p:sp>
      <p:sp>
        <p:nvSpPr>
          <p:cNvPr id="3" name="Subtitle 2">
            <a:extLst>
              <a:ext uri="{FF2B5EF4-FFF2-40B4-BE49-F238E27FC236}">
                <a16:creationId xmlns:a16="http://schemas.microsoft.com/office/drawing/2014/main" id="{8029019F-344E-46B1-8125-82A9194B0D7D}"/>
              </a:ext>
            </a:extLst>
          </p:cNvPr>
          <p:cNvSpPr>
            <a:spLocks noGrp="1"/>
          </p:cNvSpPr>
          <p:nvPr>
            <p:ph type="subTitle" idx="1"/>
          </p:nvPr>
        </p:nvSpPr>
        <p:spPr>
          <a:xfrm>
            <a:off x="1524000" y="4849857"/>
            <a:ext cx="9144000" cy="1655762"/>
          </a:xfrm>
        </p:spPr>
        <p:txBody>
          <a:bodyPr>
            <a:normAutofit/>
          </a:bodyPr>
          <a:lstStyle/>
          <a:p>
            <a:r>
              <a:rPr lang="en-GB" sz="4800" b="1" dirty="0"/>
              <a:t>Short Course 2024</a:t>
            </a:r>
          </a:p>
        </p:txBody>
      </p:sp>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Tree>
    <p:extLst>
      <p:ext uri="{BB962C8B-B14F-4D97-AF65-F5344CB8AC3E}">
        <p14:creationId xmlns:p14="http://schemas.microsoft.com/office/powerpoint/2010/main" val="2754835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p:txBody>
          <a:bodyPr>
            <a:normAutofit/>
          </a:bodyPr>
          <a:lstStyle/>
          <a:p>
            <a:r>
              <a:rPr lang="en-GB" sz="5400" b="1" dirty="0"/>
              <a:t>Agenda</a:t>
            </a:r>
          </a:p>
        </p:txBody>
      </p:sp>
      <p:sp>
        <p:nvSpPr>
          <p:cNvPr id="10" name="Content Placeholder 9">
            <a:extLst>
              <a:ext uri="{FF2B5EF4-FFF2-40B4-BE49-F238E27FC236}">
                <a16:creationId xmlns:a16="http://schemas.microsoft.com/office/drawing/2014/main" id="{00C6F9A3-D887-41AA-8709-CD5A23E8E5D4}"/>
              </a:ext>
            </a:extLst>
          </p:cNvPr>
          <p:cNvSpPr>
            <a:spLocks noGrp="1"/>
          </p:cNvSpPr>
          <p:nvPr>
            <p:ph idx="1"/>
          </p:nvPr>
        </p:nvSpPr>
        <p:spPr>
          <a:xfrm>
            <a:off x="1104900" y="1690688"/>
            <a:ext cx="9424148" cy="4351338"/>
          </a:xfrm>
        </p:spPr>
        <p:txBody>
          <a:bodyPr>
            <a:normAutofit/>
          </a:bodyPr>
          <a:lstStyle/>
          <a:p>
            <a:pPr marL="914400" indent="-914400">
              <a:buSzPct val="95000"/>
              <a:buFont typeface="+mj-lt"/>
              <a:buAutoNum type="arabicPeriod"/>
            </a:pPr>
            <a:r>
              <a:rPr lang="en-GB" sz="4000" dirty="0"/>
              <a:t>Introduce critical skills (CS)</a:t>
            </a:r>
          </a:p>
          <a:p>
            <a:pPr marL="914400" indent="-914400">
              <a:buSzPct val="95000"/>
              <a:buFont typeface="+mj-lt"/>
              <a:buAutoNum type="arabicPeriod"/>
            </a:pPr>
            <a:r>
              <a:rPr lang="en-GB" sz="4000" dirty="0"/>
              <a:t>Activity 1 - Mentimeter</a:t>
            </a:r>
          </a:p>
          <a:p>
            <a:pPr marL="914400" indent="-914400">
              <a:buSzPct val="95000"/>
              <a:buFont typeface="+mj-lt"/>
              <a:buAutoNum type="arabicPeriod"/>
            </a:pPr>
            <a:r>
              <a:rPr lang="en-GB" sz="4000" dirty="0"/>
              <a:t>Importance of CS</a:t>
            </a:r>
          </a:p>
          <a:p>
            <a:pPr marL="914400" indent="-914400">
              <a:buSzPct val="95000"/>
              <a:buFont typeface="+mj-lt"/>
              <a:buAutoNum type="arabicPeriod"/>
            </a:pPr>
            <a:r>
              <a:rPr lang="en-GB" sz="4000" dirty="0"/>
              <a:t>Activity 2 – Questionnaire</a:t>
            </a:r>
          </a:p>
          <a:p>
            <a:pPr marL="914400" indent="-914400">
              <a:buSzPct val="95000"/>
              <a:buFont typeface="+mj-lt"/>
              <a:buAutoNum type="arabicPeriod"/>
            </a:pPr>
            <a:r>
              <a:rPr lang="en-GB" sz="4000" dirty="0"/>
              <a:t>Break </a:t>
            </a:r>
          </a:p>
          <a:p>
            <a:pPr marL="914400" indent="-914400">
              <a:buSzPct val="95000"/>
              <a:buFont typeface="+mj-lt"/>
              <a:buAutoNum type="arabicPeriod"/>
            </a:pPr>
            <a:r>
              <a:rPr lang="en-GB" sz="4000" dirty="0"/>
              <a:t>Discussion </a:t>
            </a:r>
          </a:p>
          <a:p>
            <a:pPr marL="0" indent="0">
              <a:buNone/>
            </a:pPr>
            <a:endParaRPr lang="en-GB" sz="5400" dirty="0"/>
          </a:p>
          <a:p>
            <a:pPr marL="0" indent="0">
              <a:buNone/>
            </a:pPr>
            <a:endParaRPr lang="en-GB" dirty="0"/>
          </a:p>
        </p:txBody>
      </p:sp>
    </p:spTree>
    <p:extLst>
      <p:ext uri="{BB962C8B-B14F-4D97-AF65-F5344CB8AC3E}">
        <p14:creationId xmlns:p14="http://schemas.microsoft.com/office/powerpoint/2010/main" val="3386184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p:txBody>
          <a:bodyPr>
            <a:normAutofit/>
          </a:bodyPr>
          <a:lstStyle/>
          <a:p>
            <a:r>
              <a:rPr lang="en-GB" sz="5400" b="1" dirty="0"/>
              <a:t>Critical Skills</a:t>
            </a:r>
          </a:p>
        </p:txBody>
      </p:sp>
      <p:sp>
        <p:nvSpPr>
          <p:cNvPr id="10" name="Content Placeholder 9">
            <a:extLst>
              <a:ext uri="{FF2B5EF4-FFF2-40B4-BE49-F238E27FC236}">
                <a16:creationId xmlns:a16="http://schemas.microsoft.com/office/drawing/2014/main" id="{00C6F9A3-D887-41AA-8709-CD5A23E8E5D4}"/>
              </a:ext>
            </a:extLst>
          </p:cNvPr>
          <p:cNvSpPr>
            <a:spLocks noGrp="1"/>
          </p:cNvSpPr>
          <p:nvPr>
            <p:ph idx="1"/>
          </p:nvPr>
        </p:nvSpPr>
        <p:spPr/>
        <p:txBody>
          <a:bodyPr>
            <a:normAutofit fontScale="85000" lnSpcReduction="10000"/>
          </a:bodyPr>
          <a:lstStyle/>
          <a:p>
            <a:pPr marL="0" indent="0">
              <a:buNone/>
            </a:pPr>
            <a:r>
              <a:rPr lang="en-GB" sz="5400" dirty="0"/>
              <a:t>“Critical skills are the skills that you will need to support you through university life and later employment. Attributes such as </a:t>
            </a:r>
          </a:p>
          <a:p>
            <a:pPr marL="0" indent="0">
              <a:buNone/>
            </a:pPr>
            <a:r>
              <a:rPr lang="en-GB" sz="5400" dirty="0"/>
              <a:t>the ability to communicate effectively, collaborate with others, employ critical thinking and the ability to use technology”</a:t>
            </a:r>
          </a:p>
          <a:p>
            <a:pPr marL="0" indent="0">
              <a:buNone/>
            </a:pPr>
            <a:endParaRPr lang="en-GB" dirty="0"/>
          </a:p>
        </p:txBody>
      </p:sp>
    </p:spTree>
    <p:extLst>
      <p:ext uri="{BB962C8B-B14F-4D97-AF65-F5344CB8AC3E}">
        <p14:creationId xmlns:p14="http://schemas.microsoft.com/office/powerpoint/2010/main" val="4026313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a:xfrm>
            <a:off x="838199" y="365125"/>
            <a:ext cx="11035553" cy="1325563"/>
          </a:xfrm>
        </p:spPr>
        <p:txBody>
          <a:bodyPr>
            <a:noAutofit/>
          </a:bodyPr>
          <a:lstStyle/>
          <a:p>
            <a:r>
              <a:rPr lang="en-GB" sz="5400" b="1" dirty="0"/>
              <a:t>Why are we interested in Critical Skills</a:t>
            </a:r>
          </a:p>
        </p:txBody>
      </p:sp>
      <p:sp>
        <p:nvSpPr>
          <p:cNvPr id="10" name="Content Placeholder 9">
            <a:extLst>
              <a:ext uri="{FF2B5EF4-FFF2-40B4-BE49-F238E27FC236}">
                <a16:creationId xmlns:a16="http://schemas.microsoft.com/office/drawing/2014/main" id="{00C6F9A3-D887-41AA-8709-CD5A23E8E5D4}"/>
              </a:ext>
            </a:extLst>
          </p:cNvPr>
          <p:cNvSpPr>
            <a:spLocks noGrp="1"/>
          </p:cNvSpPr>
          <p:nvPr>
            <p:ph idx="1"/>
          </p:nvPr>
        </p:nvSpPr>
        <p:spPr>
          <a:xfrm>
            <a:off x="838199" y="1825625"/>
            <a:ext cx="10995213" cy="4351338"/>
          </a:xfrm>
        </p:spPr>
        <p:txBody>
          <a:bodyPr>
            <a:normAutofit lnSpcReduction="10000"/>
          </a:bodyPr>
          <a:lstStyle/>
          <a:p>
            <a:pPr marL="0" indent="0">
              <a:lnSpc>
                <a:spcPct val="100000"/>
              </a:lnSpc>
              <a:buNone/>
            </a:pPr>
            <a:r>
              <a:rPr lang="en-GB" sz="5400" dirty="0"/>
              <a:t>From our perspective:</a:t>
            </a:r>
          </a:p>
          <a:p>
            <a:pPr>
              <a:lnSpc>
                <a:spcPct val="100000"/>
              </a:lnSpc>
            </a:pPr>
            <a:r>
              <a:rPr lang="en-GB" sz="5400" dirty="0"/>
              <a:t>Preparing students for effective learning</a:t>
            </a:r>
          </a:p>
          <a:p>
            <a:pPr>
              <a:lnSpc>
                <a:spcPct val="100000"/>
              </a:lnSpc>
            </a:pPr>
            <a:r>
              <a:rPr lang="en-GB" sz="5400" dirty="0"/>
              <a:t>Preparing students for a rapidly changing employment market</a:t>
            </a:r>
          </a:p>
          <a:p>
            <a:pPr marL="0" indent="0">
              <a:buNone/>
            </a:pPr>
            <a:endParaRPr lang="en-GB" dirty="0"/>
          </a:p>
        </p:txBody>
      </p:sp>
    </p:spTree>
    <p:extLst>
      <p:ext uri="{BB962C8B-B14F-4D97-AF65-F5344CB8AC3E}">
        <p14:creationId xmlns:p14="http://schemas.microsoft.com/office/powerpoint/2010/main" val="725433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a:xfrm>
            <a:off x="838199" y="403498"/>
            <a:ext cx="11035553" cy="1325563"/>
          </a:xfrm>
        </p:spPr>
        <p:txBody>
          <a:bodyPr>
            <a:noAutofit/>
          </a:bodyPr>
          <a:lstStyle/>
          <a:p>
            <a:r>
              <a:rPr lang="en-GB" sz="5400" b="1" dirty="0"/>
              <a:t>Identifying critical skills?</a:t>
            </a:r>
          </a:p>
        </p:txBody>
      </p:sp>
      <p:sp>
        <p:nvSpPr>
          <p:cNvPr id="8" name="Rectangle: Rounded Corners 7">
            <a:extLst>
              <a:ext uri="{FF2B5EF4-FFF2-40B4-BE49-F238E27FC236}">
                <a16:creationId xmlns:a16="http://schemas.microsoft.com/office/drawing/2014/main" id="{227F25B7-B858-4C1A-BA39-BA05DC43F7B3}"/>
              </a:ext>
            </a:extLst>
          </p:cNvPr>
          <p:cNvSpPr/>
          <p:nvPr/>
        </p:nvSpPr>
        <p:spPr>
          <a:xfrm>
            <a:off x="1204783" y="2133194"/>
            <a:ext cx="2952666" cy="1325564"/>
          </a:xfrm>
          <a:prstGeom prst="roundRect">
            <a:avLst/>
          </a:prstGeom>
          <a:solidFill>
            <a:srgbClr val="001532"/>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Collaboration</a:t>
            </a:r>
          </a:p>
        </p:txBody>
      </p:sp>
      <p:sp>
        <p:nvSpPr>
          <p:cNvPr id="5" name="Rectangle: Rounded Corners 4">
            <a:extLst>
              <a:ext uri="{FF2B5EF4-FFF2-40B4-BE49-F238E27FC236}">
                <a16:creationId xmlns:a16="http://schemas.microsoft.com/office/drawing/2014/main" id="{C799588E-3CB8-402E-9D39-0DF648C6C5F6}"/>
              </a:ext>
            </a:extLst>
          </p:cNvPr>
          <p:cNvSpPr/>
          <p:nvPr/>
        </p:nvSpPr>
        <p:spPr>
          <a:xfrm>
            <a:off x="1204783" y="3929199"/>
            <a:ext cx="2952666" cy="1325564"/>
          </a:xfrm>
          <a:prstGeom prst="roundRect">
            <a:avLst/>
          </a:prstGeom>
          <a:solidFill>
            <a:srgbClr val="265D93"/>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Self-Direction</a:t>
            </a:r>
          </a:p>
        </p:txBody>
      </p:sp>
      <p:sp>
        <p:nvSpPr>
          <p:cNvPr id="6" name="Rectangle: Rounded Corners 5">
            <a:extLst>
              <a:ext uri="{FF2B5EF4-FFF2-40B4-BE49-F238E27FC236}">
                <a16:creationId xmlns:a16="http://schemas.microsoft.com/office/drawing/2014/main" id="{A75D5393-C1AB-413A-A56C-34CD34E23196}"/>
              </a:ext>
            </a:extLst>
          </p:cNvPr>
          <p:cNvSpPr/>
          <p:nvPr/>
        </p:nvSpPr>
        <p:spPr>
          <a:xfrm>
            <a:off x="4524033" y="2103436"/>
            <a:ext cx="2952666" cy="1325564"/>
          </a:xfrm>
          <a:prstGeom prst="roundRect">
            <a:avLst/>
          </a:prstGeom>
          <a:solidFill>
            <a:srgbClr val="599795"/>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Communication</a:t>
            </a:r>
          </a:p>
        </p:txBody>
      </p:sp>
      <p:sp>
        <p:nvSpPr>
          <p:cNvPr id="10" name="Rectangle: Rounded Corners 9">
            <a:extLst>
              <a:ext uri="{FF2B5EF4-FFF2-40B4-BE49-F238E27FC236}">
                <a16:creationId xmlns:a16="http://schemas.microsoft.com/office/drawing/2014/main" id="{A77B4019-FC18-4111-A225-D641CB70D0BE}"/>
              </a:ext>
            </a:extLst>
          </p:cNvPr>
          <p:cNvSpPr/>
          <p:nvPr/>
        </p:nvSpPr>
        <p:spPr>
          <a:xfrm>
            <a:off x="4524033" y="3891098"/>
            <a:ext cx="2952666" cy="1325564"/>
          </a:xfrm>
          <a:prstGeom prst="roundRect">
            <a:avLst/>
          </a:prstGeom>
          <a:solidFill>
            <a:srgbClr val="8CB65D"/>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Critical Thinking</a:t>
            </a:r>
          </a:p>
        </p:txBody>
      </p:sp>
      <p:sp>
        <p:nvSpPr>
          <p:cNvPr id="11" name="Rectangle: Rounded Corners 10">
            <a:extLst>
              <a:ext uri="{FF2B5EF4-FFF2-40B4-BE49-F238E27FC236}">
                <a16:creationId xmlns:a16="http://schemas.microsoft.com/office/drawing/2014/main" id="{EBBCFA70-5ABB-4399-B445-16D18530CBF1}"/>
              </a:ext>
            </a:extLst>
          </p:cNvPr>
          <p:cNvSpPr/>
          <p:nvPr/>
        </p:nvSpPr>
        <p:spPr>
          <a:xfrm>
            <a:off x="7843283" y="2103436"/>
            <a:ext cx="2952666" cy="1325564"/>
          </a:xfrm>
          <a:prstGeom prst="roundRect">
            <a:avLst/>
          </a:prstGeom>
          <a:solidFill>
            <a:srgbClr val="C34E56"/>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Creativity</a:t>
            </a:r>
          </a:p>
        </p:txBody>
      </p:sp>
      <p:sp>
        <p:nvSpPr>
          <p:cNvPr id="12" name="Rectangle: Rounded Corners 11">
            <a:extLst>
              <a:ext uri="{FF2B5EF4-FFF2-40B4-BE49-F238E27FC236}">
                <a16:creationId xmlns:a16="http://schemas.microsoft.com/office/drawing/2014/main" id="{19C8F152-AB54-432C-8542-BF4C2A3EC153}"/>
              </a:ext>
            </a:extLst>
          </p:cNvPr>
          <p:cNvSpPr/>
          <p:nvPr/>
        </p:nvSpPr>
        <p:spPr>
          <a:xfrm>
            <a:off x="7843283" y="3905980"/>
            <a:ext cx="2952666" cy="1325564"/>
          </a:xfrm>
          <a:prstGeom prst="roundRect">
            <a:avLst/>
          </a:prstGeom>
          <a:solidFill>
            <a:srgbClr val="D8E301"/>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Technology for Learning</a:t>
            </a:r>
          </a:p>
        </p:txBody>
      </p:sp>
    </p:spTree>
    <p:extLst>
      <p:ext uri="{BB962C8B-B14F-4D97-AF65-F5344CB8AC3E}">
        <p14:creationId xmlns:p14="http://schemas.microsoft.com/office/powerpoint/2010/main" val="19273385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a:xfrm>
            <a:off x="838199" y="365125"/>
            <a:ext cx="11035553" cy="1325563"/>
          </a:xfrm>
        </p:spPr>
        <p:txBody>
          <a:bodyPr>
            <a:noAutofit/>
          </a:bodyPr>
          <a:lstStyle/>
          <a:p>
            <a:r>
              <a:rPr lang="en-GB" sz="5400" b="1" dirty="0"/>
              <a:t>Critical Skills in the Media</a:t>
            </a:r>
          </a:p>
        </p:txBody>
      </p:sp>
      <p:pic>
        <p:nvPicPr>
          <p:cNvPr id="3" name="Content Placeholder 2" descr="screengrab of an article stating 2024 graduates lack skills in collaboration, communication and critical thinking">
            <a:extLst>
              <a:ext uri="{FF2B5EF4-FFF2-40B4-BE49-F238E27FC236}">
                <a16:creationId xmlns:a16="http://schemas.microsoft.com/office/drawing/2014/main" id="{EDA72DF4-698D-5A81-B043-5AC53C72DC42}"/>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838199" y="1395456"/>
            <a:ext cx="4648780" cy="5110163"/>
          </a:xfrm>
        </p:spPr>
      </p:pic>
      <p:pic>
        <p:nvPicPr>
          <p:cNvPr id="5" name="Picture 4" descr="A screenshot of a web page&#10;&#10;Description automatically generated">
            <a:extLst>
              <a:ext uri="{FF2B5EF4-FFF2-40B4-BE49-F238E27FC236}">
                <a16:creationId xmlns:a16="http://schemas.microsoft.com/office/drawing/2014/main" id="{B40C416F-5CE7-A1BE-7DF6-34188BF137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25191" y="1197428"/>
            <a:ext cx="4998720" cy="5158740"/>
          </a:xfrm>
          <a:prstGeom prst="rect">
            <a:avLst/>
          </a:prstGeom>
        </p:spPr>
      </p:pic>
      <p:pic>
        <p:nvPicPr>
          <p:cNvPr id="15" name="Picture 14" descr="Screen shot from BBC Worklife stating that digital literacy is now a non-negotiable in the workplace">
            <a:extLst>
              <a:ext uri="{FF2B5EF4-FFF2-40B4-BE49-F238E27FC236}">
                <a16:creationId xmlns:a16="http://schemas.microsoft.com/office/drawing/2014/main" id="{E13866C1-2D4F-C7C4-0869-0D4A5BEE30D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58225" y="1369176"/>
            <a:ext cx="5389826" cy="4815244"/>
          </a:xfrm>
          <a:prstGeom prst="rect">
            <a:avLst/>
          </a:prstGeom>
        </p:spPr>
      </p:pic>
    </p:spTree>
    <p:extLst>
      <p:ext uri="{BB962C8B-B14F-4D97-AF65-F5344CB8AC3E}">
        <p14:creationId xmlns:p14="http://schemas.microsoft.com/office/powerpoint/2010/main" val="2802553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12" fill="hold" nodeType="clickEffect">
                                  <p:stCondLst>
                                    <p:cond delay="0"/>
                                  </p:stCondLst>
                                  <p:childTnLst>
                                    <p:anim calcmode="lin" valueType="num">
                                      <p:cBhvr additive="base">
                                        <p:cTn id="12" dur="500"/>
                                        <p:tgtEl>
                                          <p:spTgt spid="3"/>
                                        </p:tgtEl>
                                        <p:attrNameLst>
                                          <p:attrName>ppt_x</p:attrName>
                                        </p:attrNameLst>
                                      </p:cBhvr>
                                      <p:tavLst>
                                        <p:tav tm="0">
                                          <p:val>
                                            <p:strVal val="ppt_x"/>
                                          </p:val>
                                        </p:tav>
                                        <p:tav tm="100000">
                                          <p:val>
                                            <p:strVal val="0-ppt_w/2"/>
                                          </p:val>
                                        </p:tav>
                                      </p:tavLst>
                                    </p:anim>
                                    <p:anim calcmode="lin" valueType="num">
                                      <p:cBhvr additive="base">
                                        <p:cTn id="13" dur="500"/>
                                        <p:tgtEl>
                                          <p:spTgt spid="3"/>
                                        </p:tgtEl>
                                        <p:attrNameLst>
                                          <p:attrName>ppt_y</p:attrName>
                                        </p:attrNameLst>
                                      </p:cBhvr>
                                      <p:tavLst>
                                        <p:tav tm="0">
                                          <p:val>
                                            <p:strVal val="ppt_y"/>
                                          </p:val>
                                        </p:tav>
                                        <p:tav tm="100000">
                                          <p:val>
                                            <p:strVal val="1+ppt_h/2"/>
                                          </p:val>
                                        </p:tav>
                                      </p:tavLst>
                                    </p:anim>
                                    <p:set>
                                      <p:cBhvr>
                                        <p:cTn id="14" dur="1" fill="hold">
                                          <p:stCondLst>
                                            <p:cond delay="499"/>
                                          </p:stCondLst>
                                        </p:cTn>
                                        <p:tgtEl>
                                          <p:spTgt spid="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9"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nodeType="clickEffect">
                                  <p:stCondLst>
                                    <p:cond delay="0"/>
                                  </p:stCondLst>
                                  <p:childTnLst>
                                    <p:anim calcmode="lin" valueType="num">
                                      <p:cBhvr additive="base">
                                        <p:cTn id="24" dur="500"/>
                                        <p:tgtEl>
                                          <p:spTgt spid="5"/>
                                        </p:tgtEl>
                                        <p:attrNameLst>
                                          <p:attrName>ppt_x</p:attrName>
                                        </p:attrNameLst>
                                      </p:cBhvr>
                                      <p:tavLst>
                                        <p:tav tm="0">
                                          <p:val>
                                            <p:strVal val="ppt_x"/>
                                          </p:val>
                                        </p:tav>
                                        <p:tav tm="100000">
                                          <p:val>
                                            <p:strVal val="ppt_x"/>
                                          </p:val>
                                        </p:tav>
                                      </p:tavLst>
                                    </p:anim>
                                    <p:anim calcmode="lin" valueType="num">
                                      <p:cBhvr additive="base">
                                        <p:cTn id="25" dur="500"/>
                                        <p:tgtEl>
                                          <p:spTgt spid="5"/>
                                        </p:tgtEl>
                                        <p:attrNameLst>
                                          <p:attrName>ppt_y</p:attrName>
                                        </p:attrNameLst>
                                      </p:cBhvr>
                                      <p:tavLst>
                                        <p:tav tm="0">
                                          <p:val>
                                            <p:strVal val="ppt_y"/>
                                          </p:val>
                                        </p:tav>
                                        <p:tav tm="100000">
                                          <p:val>
                                            <p:strVal val="1+ppt_h/2"/>
                                          </p:val>
                                        </p:tav>
                                      </p:tavLst>
                                    </p:anim>
                                    <p:set>
                                      <p:cBhvr>
                                        <p:cTn id="26" dur="1" fill="hold">
                                          <p:stCondLst>
                                            <p:cond delay="499"/>
                                          </p:stCondLst>
                                        </p:cTn>
                                        <p:tgtEl>
                                          <p:spTgt spid="5"/>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3"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1+#ppt_w/2"/>
                                          </p:val>
                                        </p:tav>
                                        <p:tav tm="100000">
                                          <p:val>
                                            <p:strVal val="#ppt_x"/>
                                          </p:val>
                                        </p:tav>
                                      </p:tavLst>
                                    </p:anim>
                                    <p:anim calcmode="lin" valueType="num">
                                      <p:cBhvr additive="base">
                                        <p:cTn id="32" dur="500" fill="hold"/>
                                        <p:tgtEl>
                                          <p:spTgt spid="15"/>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xit" presetSubtype="2" fill="hold" nodeType="clickEffect">
                                  <p:stCondLst>
                                    <p:cond delay="0"/>
                                  </p:stCondLst>
                                  <p:childTnLst>
                                    <p:anim calcmode="lin" valueType="num">
                                      <p:cBhvr additive="base">
                                        <p:cTn id="36" dur="500"/>
                                        <p:tgtEl>
                                          <p:spTgt spid="15"/>
                                        </p:tgtEl>
                                        <p:attrNameLst>
                                          <p:attrName>ppt_x</p:attrName>
                                        </p:attrNameLst>
                                      </p:cBhvr>
                                      <p:tavLst>
                                        <p:tav tm="0">
                                          <p:val>
                                            <p:strVal val="ppt_x"/>
                                          </p:val>
                                        </p:tav>
                                        <p:tav tm="100000">
                                          <p:val>
                                            <p:strVal val="1+ppt_w/2"/>
                                          </p:val>
                                        </p:tav>
                                      </p:tavLst>
                                    </p:anim>
                                    <p:anim calcmode="lin" valueType="num">
                                      <p:cBhvr additive="base">
                                        <p:cTn id="37" dur="500"/>
                                        <p:tgtEl>
                                          <p:spTgt spid="15"/>
                                        </p:tgtEl>
                                        <p:attrNameLst>
                                          <p:attrName>ppt_y</p:attrName>
                                        </p:attrNameLst>
                                      </p:cBhvr>
                                      <p:tavLst>
                                        <p:tav tm="0">
                                          <p:val>
                                            <p:strVal val="ppt_y"/>
                                          </p:val>
                                        </p:tav>
                                        <p:tav tm="100000">
                                          <p:val>
                                            <p:strVal val="ppt_y"/>
                                          </p:val>
                                        </p:tav>
                                      </p:tavLst>
                                    </p:anim>
                                    <p:set>
                                      <p:cBhvr>
                                        <p:cTn id="38"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a:solidFill>
            <a:srgbClr val="C34E56"/>
          </a:solidFill>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a:xfrm>
            <a:off x="838199" y="365125"/>
            <a:ext cx="11035553" cy="1325563"/>
          </a:xfrm>
        </p:spPr>
        <p:txBody>
          <a:bodyPr>
            <a:noAutofit/>
          </a:bodyPr>
          <a:lstStyle/>
          <a:p>
            <a:r>
              <a:rPr lang="en-GB" sz="5400" b="1" dirty="0"/>
              <a:t>Activity 1 – Ranking Confidence in Critical Skills</a:t>
            </a:r>
          </a:p>
        </p:txBody>
      </p:sp>
      <p:pic>
        <p:nvPicPr>
          <p:cNvPr id="4" name="Picture 3" descr="A qr code on a white background&#10;&#10;Description automatically generated">
            <a:extLst>
              <a:ext uri="{FF2B5EF4-FFF2-40B4-BE49-F238E27FC236}">
                <a16:creationId xmlns:a16="http://schemas.microsoft.com/office/drawing/2014/main" id="{571E3EFD-BD10-E1D6-737E-6309627997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199" y="1690688"/>
            <a:ext cx="4294557" cy="4294557"/>
          </a:xfrm>
          <a:prstGeom prst="rect">
            <a:avLst/>
          </a:prstGeom>
          <a:ln w="38100">
            <a:solidFill>
              <a:schemeClr val="accent1"/>
            </a:solidFill>
          </a:ln>
        </p:spPr>
      </p:pic>
      <p:sp>
        <p:nvSpPr>
          <p:cNvPr id="6" name="TextBox 5">
            <a:extLst>
              <a:ext uri="{FF2B5EF4-FFF2-40B4-BE49-F238E27FC236}">
                <a16:creationId xmlns:a16="http://schemas.microsoft.com/office/drawing/2014/main" id="{48595344-816D-39C5-2B3F-A39539DFA775}"/>
              </a:ext>
            </a:extLst>
          </p:cNvPr>
          <p:cNvSpPr txBox="1"/>
          <p:nvPr/>
        </p:nvSpPr>
        <p:spPr>
          <a:xfrm>
            <a:off x="5717628" y="1996966"/>
            <a:ext cx="5508583" cy="523220"/>
          </a:xfrm>
          <a:prstGeom prst="rect">
            <a:avLst/>
          </a:prstGeom>
          <a:noFill/>
        </p:spPr>
        <p:txBody>
          <a:bodyPr wrap="square" rtlCol="0">
            <a:spAutoFit/>
          </a:bodyPr>
          <a:lstStyle/>
          <a:p>
            <a:r>
              <a:rPr lang="en-GB" sz="2800" u="sng" dirty="0">
                <a:solidFill>
                  <a:srgbClr val="0563C1"/>
                </a:solidFill>
                <a:effectLst/>
                <a:latin typeface="Tw Cen MT" panose="020B0602020104020603" pitchFamily="34" charset="0"/>
                <a:ea typeface="Times New Roman" panose="02020603050405020304" pitchFamily="18" charset="0"/>
                <a:cs typeface="Times New Roman" panose="02020603050405020304" pitchFamily="18" charset="0"/>
                <a:hlinkClick r:id="rId5"/>
              </a:rPr>
              <a:t>https://www.menti.com/alec5ehy9tta</a:t>
            </a:r>
            <a:endParaRPr lang="en-GB" sz="2800" dirty="0"/>
          </a:p>
        </p:txBody>
      </p:sp>
    </p:spTree>
    <p:extLst>
      <p:ext uri="{BB962C8B-B14F-4D97-AF65-F5344CB8AC3E}">
        <p14:creationId xmlns:p14="http://schemas.microsoft.com/office/powerpoint/2010/main" val="9591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AEA1-A082-4E34-99B2-D439B5392380}"/>
              </a:ext>
            </a:extLst>
          </p:cNvPr>
          <p:cNvSpPr>
            <a:spLocks noGrp="1"/>
          </p:cNvSpPr>
          <p:nvPr>
            <p:ph type="ctrTitle"/>
          </p:nvPr>
        </p:nvSpPr>
        <p:spPr>
          <a:xfrm>
            <a:off x="349624" y="2235200"/>
            <a:ext cx="11510682" cy="2387600"/>
          </a:xfrm>
        </p:spPr>
        <p:txBody>
          <a:bodyPr>
            <a:normAutofit fontScale="90000"/>
          </a:bodyPr>
          <a:lstStyle/>
          <a:p>
            <a:r>
              <a:rPr lang="en-GB" sz="8800" dirty="0"/>
              <a:t>Discussion – Breakout Room</a:t>
            </a:r>
            <a:endParaRPr lang="en-GB" sz="8800" b="1" dirty="0"/>
          </a:p>
        </p:txBody>
      </p:sp>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Tree>
    <p:extLst>
      <p:ext uri="{BB962C8B-B14F-4D97-AF65-F5344CB8AC3E}">
        <p14:creationId xmlns:p14="http://schemas.microsoft.com/office/powerpoint/2010/main" val="2457586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a:xfrm>
            <a:off x="838199" y="365125"/>
            <a:ext cx="11035553" cy="1325563"/>
          </a:xfrm>
        </p:spPr>
        <p:txBody>
          <a:bodyPr>
            <a:noAutofit/>
          </a:bodyPr>
          <a:lstStyle/>
          <a:p>
            <a:r>
              <a:rPr lang="en-GB" sz="5400" b="1" dirty="0"/>
              <a:t>Supporting Critical Skill Development</a:t>
            </a:r>
          </a:p>
        </p:txBody>
      </p:sp>
      <p:sp>
        <p:nvSpPr>
          <p:cNvPr id="10" name="Content Placeholder 9">
            <a:extLst>
              <a:ext uri="{FF2B5EF4-FFF2-40B4-BE49-F238E27FC236}">
                <a16:creationId xmlns:a16="http://schemas.microsoft.com/office/drawing/2014/main" id="{00C6F9A3-D887-41AA-8709-CD5A23E8E5D4}"/>
              </a:ext>
            </a:extLst>
          </p:cNvPr>
          <p:cNvSpPr>
            <a:spLocks noGrp="1"/>
          </p:cNvSpPr>
          <p:nvPr>
            <p:ph idx="1"/>
          </p:nvPr>
        </p:nvSpPr>
        <p:spPr>
          <a:xfrm>
            <a:off x="838199" y="1414130"/>
            <a:ext cx="10995213" cy="1509823"/>
          </a:xfrm>
        </p:spPr>
        <p:txBody>
          <a:bodyPr>
            <a:normAutofit fontScale="92500" lnSpcReduction="10000"/>
          </a:bodyPr>
          <a:lstStyle/>
          <a:p>
            <a:pPr marL="0" indent="0">
              <a:buNone/>
            </a:pPr>
            <a:r>
              <a:rPr lang="en-GB" sz="3500" dirty="0"/>
              <a:t>Build critical skills into coursework and assessment</a:t>
            </a:r>
          </a:p>
          <a:p>
            <a:pPr marL="0" indent="0">
              <a:buNone/>
            </a:pPr>
            <a:r>
              <a:rPr lang="en-GB" sz="3500" dirty="0"/>
              <a:t>Depending upon your subject you might encounter assessments such as:</a:t>
            </a:r>
          </a:p>
          <a:p>
            <a:pPr marL="0" indent="0">
              <a:buNone/>
            </a:pPr>
            <a:endParaRPr lang="en-GB" dirty="0"/>
          </a:p>
        </p:txBody>
      </p:sp>
      <p:sp>
        <p:nvSpPr>
          <p:cNvPr id="2" name="TextBox 1">
            <a:extLst>
              <a:ext uri="{FF2B5EF4-FFF2-40B4-BE49-F238E27FC236}">
                <a16:creationId xmlns:a16="http://schemas.microsoft.com/office/drawing/2014/main" id="{F712E0A0-3624-4C8A-774E-B898BE8959CF}"/>
              </a:ext>
            </a:extLst>
          </p:cNvPr>
          <p:cNvSpPr txBox="1"/>
          <p:nvPr/>
        </p:nvSpPr>
        <p:spPr>
          <a:xfrm>
            <a:off x="838199" y="2682541"/>
            <a:ext cx="10613066" cy="5509200"/>
          </a:xfrm>
          <a:prstGeom prst="rect">
            <a:avLst/>
          </a:prstGeom>
          <a:noFill/>
        </p:spPr>
        <p:txBody>
          <a:bodyPr wrap="square" numCol="2" rtlCol="0">
            <a:spAutoFit/>
          </a:bodyPr>
          <a:lstStyle/>
          <a:p>
            <a:r>
              <a:rPr lang="en-GB" sz="3200" dirty="0"/>
              <a:t>Verbal or Group Presentations</a:t>
            </a:r>
          </a:p>
          <a:p>
            <a:r>
              <a:rPr lang="en-GB" sz="3200" dirty="0"/>
              <a:t>Reflective Essays</a:t>
            </a:r>
          </a:p>
          <a:p>
            <a:r>
              <a:rPr lang="en-GB" sz="3200" dirty="0"/>
              <a:t>Traditional Essays</a:t>
            </a:r>
          </a:p>
          <a:p>
            <a:r>
              <a:rPr lang="en-GB" sz="3200" dirty="0"/>
              <a:t>Research Reports</a:t>
            </a:r>
          </a:p>
          <a:p>
            <a:r>
              <a:rPr lang="en-GB" sz="3200" dirty="0"/>
              <a:t>Timed In Class Tests</a:t>
            </a:r>
          </a:p>
          <a:p>
            <a:r>
              <a:rPr lang="en-GB" sz="3200" dirty="0"/>
              <a:t>Statistical Analyses</a:t>
            </a:r>
          </a:p>
          <a:p>
            <a:r>
              <a:rPr lang="en-GB" sz="3200" dirty="0"/>
              <a:t>Examinations                                            																		</a:t>
            </a:r>
          </a:p>
          <a:p>
            <a:r>
              <a:rPr lang="en-GB" sz="3200" dirty="0"/>
              <a:t>Theoretical Essays</a:t>
            </a:r>
          </a:p>
          <a:p>
            <a:r>
              <a:rPr lang="en-GB" sz="3200" dirty="0"/>
              <a:t>Practical Assessments (e.g. art, software development, performances etc.)</a:t>
            </a:r>
          </a:p>
          <a:p>
            <a:r>
              <a:rPr lang="en-GB" sz="3200" dirty="0"/>
              <a:t>Scientific Writing</a:t>
            </a:r>
          </a:p>
          <a:p>
            <a:r>
              <a:rPr lang="en-GB" sz="3200" dirty="0"/>
              <a:t>Interventions</a:t>
            </a:r>
          </a:p>
          <a:p>
            <a:r>
              <a:rPr lang="en-GB" sz="3200" dirty="0"/>
              <a:t>Writing for a naïve audience</a:t>
            </a:r>
          </a:p>
          <a:p>
            <a:r>
              <a:rPr lang="en-GB" sz="3200" dirty="0"/>
              <a:t>and more….</a:t>
            </a:r>
          </a:p>
          <a:p>
            <a:endParaRPr lang="en-GB" sz="2800" dirty="0"/>
          </a:p>
          <a:p>
            <a:endParaRPr lang="en-GB" sz="2800" dirty="0"/>
          </a:p>
        </p:txBody>
      </p:sp>
    </p:spTree>
    <p:extLst>
      <p:ext uri="{BB962C8B-B14F-4D97-AF65-F5344CB8AC3E}">
        <p14:creationId xmlns:p14="http://schemas.microsoft.com/office/powerpoint/2010/main" val="2242767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a:solidFill>
            <a:srgbClr val="C34E56"/>
          </a:solidFill>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a:xfrm>
            <a:off x="838199" y="365125"/>
            <a:ext cx="11035553" cy="1325563"/>
          </a:xfrm>
        </p:spPr>
        <p:txBody>
          <a:bodyPr>
            <a:noAutofit/>
          </a:bodyPr>
          <a:lstStyle/>
          <a:p>
            <a:r>
              <a:rPr lang="en-GB" sz="5400" b="1" dirty="0"/>
              <a:t>Activity 2 – Assess your Critical Skills</a:t>
            </a:r>
          </a:p>
        </p:txBody>
      </p:sp>
      <p:sp>
        <p:nvSpPr>
          <p:cNvPr id="6" name="TextBox 5">
            <a:extLst>
              <a:ext uri="{FF2B5EF4-FFF2-40B4-BE49-F238E27FC236}">
                <a16:creationId xmlns:a16="http://schemas.microsoft.com/office/drawing/2014/main" id="{48595344-816D-39C5-2B3F-A39539DFA775}"/>
              </a:ext>
            </a:extLst>
          </p:cNvPr>
          <p:cNvSpPr txBox="1"/>
          <p:nvPr/>
        </p:nvSpPr>
        <p:spPr>
          <a:xfrm>
            <a:off x="5717628" y="1996966"/>
            <a:ext cx="5508583" cy="1384995"/>
          </a:xfrm>
          <a:prstGeom prst="rect">
            <a:avLst/>
          </a:prstGeom>
          <a:noFill/>
        </p:spPr>
        <p:txBody>
          <a:bodyPr wrap="square" rtlCol="0">
            <a:spAutoFit/>
          </a:bodyPr>
          <a:lstStyle/>
          <a:p>
            <a:r>
              <a:rPr lang="en-GB" sz="2800" b="0" i="0" dirty="0">
                <a:solidFill>
                  <a:srgbClr val="000000"/>
                </a:solidFill>
                <a:effectLst/>
                <a:latin typeface="72"/>
                <a:hlinkClick r:id="rId4"/>
              </a:rPr>
              <a:t>https://liverpoolhope.fra1.qualtrics.com/jfe/form/SV_0O3vhNsFk0CFMJE</a:t>
            </a:r>
            <a:r>
              <a:rPr lang="en-GB" sz="2800" b="0" i="0" dirty="0">
                <a:solidFill>
                  <a:srgbClr val="000000"/>
                </a:solidFill>
                <a:effectLst/>
                <a:latin typeface="72"/>
              </a:rPr>
              <a:t> </a:t>
            </a:r>
            <a:endParaRPr lang="en-GB" sz="2800" dirty="0"/>
          </a:p>
        </p:txBody>
      </p:sp>
      <p:pic>
        <p:nvPicPr>
          <p:cNvPr id="3" name="Picture 2" descr="A qr code on a white background&#10;&#10;Description automatically generated">
            <a:extLst>
              <a:ext uri="{FF2B5EF4-FFF2-40B4-BE49-F238E27FC236}">
                <a16:creationId xmlns:a16="http://schemas.microsoft.com/office/drawing/2014/main" id="{90AB392D-3247-0379-B451-29621C2562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5788" y="1652002"/>
            <a:ext cx="4292011" cy="4292011"/>
          </a:xfrm>
          <a:prstGeom prst="rect">
            <a:avLst/>
          </a:prstGeom>
          <a:ln w="38100">
            <a:solidFill>
              <a:schemeClr val="tx1"/>
            </a:solidFill>
          </a:ln>
        </p:spPr>
      </p:pic>
    </p:spTree>
    <p:extLst>
      <p:ext uri="{BB962C8B-B14F-4D97-AF65-F5344CB8AC3E}">
        <p14:creationId xmlns:p14="http://schemas.microsoft.com/office/powerpoint/2010/main" val="2630832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AEA1-A082-4E34-99B2-D439B5392380}"/>
              </a:ext>
            </a:extLst>
          </p:cNvPr>
          <p:cNvSpPr>
            <a:spLocks noGrp="1"/>
          </p:cNvSpPr>
          <p:nvPr>
            <p:ph type="ctrTitle"/>
          </p:nvPr>
        </p:nvSpPr>
        <p:spPr>
          <a:xfrm>
            <a:off x="349624" y="2235200"/>
            <a:ext cx="11510682" cy="2387600"/>
          </a:xfrm>
        </p:spPr>
        <p:txBody>
          <a:bodyPr>
            <a:normAutofit/>
          </a:bodyPr>
          <a:lstStyle/>
          <a:p>
            <a:r>
              <a:rPr lang="en-GB" sz="8800" dirty="0"/>
              <a:t>Discussion</a:t>
            </a:r>
            <a:endParaRPr lang="en-GB" sz="8800" b="1" dirty="0"/>
          </a:p>
        </p:txBody>
      </p:sp>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Tree>
    <p:extLst>
      <p:ext uri="{BB962C8B-B14F-4D97-AF65-F5344CB8AC3E}">
        <p14:creationId xmlns:p14="http://schemas.microsoft.com/office/powerpoint/2010/main" val="36932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AEA1-A082-4E34-99B2-D439B5392380}"/>
              </a:ext>
            </a:extLst>
          </p:cNvPr>
          <p:cNvSpPr>
            <a:spLocks noGrp="1"/>
          </p:cNvSpPr>
          <p:nvPr>
            <p:ph type="ctrTitle"/>
          </p:nvPr>
        </p:nvSpPr>
        <p:spPr>
          <a:xfrm>
            <a:off x="349624" y="2235200"/>
            <a:ext cx="11510682" cy="2387600"/>
          </a:xfrm>
        </p:spPr>
        <p:txBody>
          <a:bodyPr>
            <a:normAutofit/>
          </a:bodyPr>
          <a:lstStyle/>
          <a:p>
            <a:r>
              <a:rPr lang="en-GB" sz="8800" dirty="0"/>
              <a:t>Activity 3 Action Plans</a:t>
            </a:r>
            <a:endParaRPr lang="en-GB" sz="8800" b="1" dirty="0"/>
          </a:p>
        </p:txBody>
      </p:sp>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Tree>
    <p:extLst>
      <p:ext uri="{BB962C8B-B14F-4D97-AF65-F5344CB8AC3E}">
        <p14:creationId xmlns:p14="http://schemas.microsoft.com/office/powerpoint/2010/main" val="691390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AEA1-A082-4E34-99B2-D439B5392380}"/>
              </a:ext>
            </a:extLst>
          </p:cNvPr>
          <p:cNvSpPr>
            <a:spLocks noGrp="1"/>
          </p:cNvSpPr>
          <p:nvPr>
            <p:ph type="ctrTitle"/>
          </p:nvPr>
        </p:nvSpPr>
        <p:spPr>
          <a:xfrm>
            <a:off x="349624" y="2235200"/>
            <a:ext cx="11510682" cy="2387600"/>
          </a:xfrm>
        </p:spPr>
        <p:txBody>
          <a:bodyPr>
            <a:normAutofit/>
          </a:bodyPr>
          <a:lstStyle/>
          <a:p>
            <a:r>
              <a:rPr lang="en-GB" sz="8800" dirty="0"/>
              <a:t>Reflective Essay Writing</a:t>
            </a:r>
            <a:endParaRPr lang="en-GB" sz="8800" b="1" dirty="0"/>
          </a:p>
        </p:txBody>
      </p:sp>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Tree>
    <p:extLst>
      <p:ext uri="{BB962C8B-B14F-4D97-AF65-F5344CB8AC3E}">
        <p14:creationId xmlns:p14="http://schemas.microsoft.com/office/powerpoint/2010/main" val="31174157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886</TotalTime>
  <Words>493</Words>
  <Application>Microsoft Office PowerPoint</Application>
  <PresentationFormat>Widescreen</PresentationFormat>
  <Paragraphs>70</Paragraphs>
  <Slides>13</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72</vt:lpstr>
      <vt:lpstr>Arial</vt:lpstr>
      <vt:lpstr>Calibri</vt:lpstr>
      <vt:lpstr>Calibri Light</vt:lpstr>
      <vt:lpstr>Tw Cen MT</vt:lpstr>
      <vt:lpstr>Office Theme</vt:lpstr>
      <vt:lpstr>Building the Foundations of Success: Confidence with Key Skills</vt:lpstr>
      <vt:lpstr>Agenda</vt:lpstr>
      <vt:lpstr>Critical Skills</vt:lpstr>
      <vt:lpstr>Why are we interested in Critical Skills</vt:lpstr>
      <vt:lpstr>Identifying critical skills?</vt:lpstr>
      <vt:lpstr>Critical Skills in the Media</vt:lpstr>
      <vt:lpstr>Activity 1 – Ranking Confidence in Critical Skills</vt:lpstr>
      <vt:lpstr>Discussion – Breakout Room</vt:lpstr>
      <vt:lpstr>Supporting Critical Skill Development</vt:lpstr>
      <vt:lpstr>Activity 2 – Assess your Critical Skills</vt:lpstr>
      <vt:lpstr>Discussion</vt:lpstr>
      <vt:lpstr>Activity 3 Action Plans</vt:lpstr>
      <vt:lpstr>Reflective Essay Writing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Academic Motivation</dc:title>
  <dc:creator>Glen Pennington</dc:creator>
  <cp:lastModifiedBy>Glen Pennington</cp:lastModifiedBy>
  <cp:revision>27</cp:revision>
  <dcterms:created xsi:type="dcterms:W3CDTF">2024-09-02T13:40:42Z</dcterms:created>
  <dcterms:modified xsi:type="dcterms:W3CDTF">2024-09-12T20:24:46Z</dcterms:modified>
</cp:coreProperties>
</file>