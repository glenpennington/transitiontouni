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64" r:id="rId5"/>
    <p:sldId id="258" r:id="rId6"/>
    <p:sldId id="260" r:id="rId7"/>
    <p:sldId id="263" r:id="rId8"/>
    <p:sldId id="270" r:id="rId9"/>
    <p:sldId id="271" r:id="rId10"/>
    <p:sldId id="272" r:id="rId11"/>
    <p:sldId id="274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301"/>
    <a:srgbClr val="001532"/>
    <a:srgbClr val="599795"/>
    <a:srgbClr val="C34E56"/>
    <a:srgbClr val="265D93"/>
    <a:srgbClr val="8CB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40120" autoAdjust="0"/>
  </p:normalViewPr>
  <p:slideViewPr>
    <p:cSldViewPr snapToGrid="0" showGuides="1">
      <p:cViewPr varScale="1">
        <p:scale>
          <a:sx n="31" d="100"/>
          <a:sy n="31" d="100"/>
        </p:scale>
        <p:origin x="2578" y="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18783-81CF-438C-A241-3630B1A7777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497FD-4BB8-4933-A7AC-0A33F9B992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951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rpoolhope.fra1.qualtrics.com/jfe/form/SV_57Jmf2RzHwyCJiC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497FD-4BB8-4933-A7AC-0A33F9B9929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695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497FD-4BB8-4933-A7AC-0A33F9B9929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77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497FD-4BB8-4933-A7AC-0A33F9B9929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42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u="sng" dirty="0">
                <a:solidFill>
                  <a:srgbClr val="0563C1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https://www.menti.com/alkfnmkeryjd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497FD-4BB8-4933-A7AC-0A33F9B9929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659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u="sng" kern="0" dirty="0">
                <a:solidFill>
                  <a:srgbClr val="0563C1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https://liverpoolhope.fra1.qualtrics.com/jfe/form/SV_57Jmf2RzHwyCJiC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497FD-4BB8-4933-A7AC-0A33F9B9929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187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497FD-4BB8-4933-A7AC-0A33F9B9929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96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Your scores and how you think you can improve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497FD-4BB8-4933-A7AC-0A33F9B9929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49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5537-5F1A-479C-9DAF-5D26771C1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71076-CB22-4E93-B16C-E3F474FF1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029B9-4319-457D-8117-59EE82A7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4845B-E394-42A2-A0B9-54D2F3FA1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2AF69-7D41-4FC6-8F1B-0FA05033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57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D29B-60A6-41FC-9B69-DEEB4F66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28B9-16FF-4677-8C01-2131C4E4D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9426E-6336-461F-B428-428F93A3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F82FD-6DAC-445B-94D9-10330445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38F2C-F143-4531-8A48-7291101A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73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755B-C392-4EFE-A6E5-B209F232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00864-4B87-4F09-8EA6-741AEE57A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43268-49F7-4A94-9B9F-F7652D05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D7C3C-F870-472E-B948-68065436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D4DC7-D1C0-47C4-8F1A-0B1D8E88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14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69AF-4306-4CA7-8CFE-7AEF93AD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1848-EA7A-4A33-88EF-4074903ED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ECFB1-01AE-4F4B-9BF6-BDB2C0CAA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52744-AFCA-4EB3-AE7C-CB5A8721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54DE6-BFA5-4811-B374-97D5D697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C485A-5064-4EF9-96E2-0ED08718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33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7F59-3735-406F-B0A5-D15F598E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3D6AF-DD29-4E32-B453-532D6E936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8E5A7-5AEC-429C-A55F-40FB2C44F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019B6-E0EF-4760-8304-C4FFE466F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91E6B2-25CE-4F62-B6D0-BD88CE0DC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A1B5F9-6195-481C-B749-4DD893DF0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F18D3-859B-4CA7-BD40-24862C74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80F71-4C20-46ED-883E-FBD706B2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64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E392-AF96-459B-A2F0-0331354A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A8F4F-7EA6-451E-8F2D-9688EBE4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F7048-B2F5-47C6-9290-670BB4ED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2503C-08C1-4F35-8B5E-8A6FD51C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424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FFA664-B2E2-4E3F-B9FF-AF0A8BD5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2688A5-4769-48DC-85F4-CFCACD29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46938-E553-4488-9D47-D981BCC0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10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5CC9-E4E1-480A-BD64-955BEB5E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6326E-D8CE-48E2-8F51-88F4A6F5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4BA95-FE95-4057-B943-DE8DBE09A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818E9-037A-48D2-B791-6CF085AB6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8AA0A-35C2-4D87-84ED-60EB6F81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79A6C-E418-401D-B6A8-19BDEB68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93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FECCE-8DA4-4FEE-90EE-8486843A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E22CEC-EAFD-4A61-A009-66EF2C594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A07B0-EA7B-4D81-B112-BE384CB5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0193B-D324-43AC-B092-CF18C9F1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DB412-EB77-4CC2-9F68-4E657DD7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8B7A7-109C-4003-8E40-52887563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16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12B7-8784-42F8-B3D9-548FAA07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EB06D-FBF0-4141-876E-9F36D940B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20BD2-E89F-468D-AAB9-631D4300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0A3E5-64B6-4931-B9EF-1CF87699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7C144-07BC-4CD1-8F73-5E2EEFD8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57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3F3443-076B-4F77-8932-C0D7AABB3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109F8-E9AB-4F52-83A1-989308CE1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708F4-ECE7-4741-94B2-9FBF9AED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B8DF0-D613-443A-88EB-3D971E69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36B2F-1503-4511-9E35-9A1CF907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39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07114-8579-4949-90F0-C1D743D1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E4FD9-7073-487E-96A5-1FB03E686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041DC-486C-4335-9371-BDBFC25BA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8C0DC-7841-48EE-8272-2E71B8950332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2B1C4-2F2E-4019-A81B-36A3E40BE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DE1BE-1478-4342-B439-12DD55675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5D00E-7376-49EC-B215-91493CB40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24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liverpoolhope.fra1.qualtrics.com/jfe/form/SV_57Jmf2RzHwyCJiC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AEA1-A082-4E34-99B2-D439B539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624" y="2235200"/>
            <a:ext cx="11510682" cy="2387600"/>
          </a:xfrm>
        </p:spPr>
        <p:txBody>
          <a:bodyPr>
            <a:normAutofit fontScale="90000"/>
          </a:bodyPr>
          <a:lstStyle/>
          <a:p>
            <a:r>
              <a:rPr lang="en-GB" sz="8800" dirty="0"/>
              <a:t>Building the Foundations of Success: Academic Self-Regulation</a:t>
            </a:r>
            <a:endParaRPr lang="en-GB" sz="8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9019F-344E-46B1-8125-82A9194B0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49857"/>
            <a:ext cx="9144000" cy="1655762"/>
          </a:xfrm>
        </p:spPr>
        <p:txBody>
          <a:bodyPr>
            <a:normAutofit/>
          </a:bodyPr>
          <a:lstStyle/>
          <a:p>
            <a:r>
              <a:rPr lang="en-GB" sz="4800" b="1" dirty="0"/>
              <a:t>Short Course 2024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3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81E20A-6B1D-4510-829F-7A9501A5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b="1" dirty="0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C6F9A3-D887-41AA-8709-CD5A23E8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90688"/>
            <a:ext cx="9424148" cy="4351338"/>
          </a:xfrm>
        </p:spPr>
        <p:txBody>
          <a:bodyPr>
            <a:normAutofit fontScale="77500" lnSpcReduction="20000"/>
          </a:bodyPr>
          <a:lstStyle/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Introduce Academic Self-Regulation (ASR)</a:t>
            </a:r>
          </a:p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ASR Factors</a:t>
            </a:r>
          </a:p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Importance of ASR</a:t>
            </a:r>
          </a:p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Activity 1 – </a:t>
            </a:r>
            <a:r>
              <a:rPr lang="en-GB" sz="4000" dirty="0" err="1"/>
              <a:t>Mentimeter</a:t>
            </a:r>
            <a:endParaRPr lang="en-GB" sz="4000" dirty="0"/>
          </a:p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Discussion</a:t>
            </a:r>
          </a:p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Activity 2 – Time Management</a:t>
            </a:r>
          </a:p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Discussion </a:t>
            </a:r>
          </a:p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Activity 3 – Questionnaire</a:t>
            </a:r>
          </a:p>
          <a:p>
            <a:pPr marL="914400" indent="-914400">
              <a:buSzPct val="95000"/>
              <a:buFont typeface="+mj-lt"/>
              <a:buAutoNum type="arabicPeriod"/>
            </a:pPr>
            <a:r>
              <a:rPr lang="en-GB" sz="4000" dirty="0"/>
              <a:t>Discussion</a:t>
            </a:r>
          </a:p>
          <a:p>
            <a:pPr marL="914400" indent="-914400">
              <a:buFont typeface="+mj-lt"/>
              <a:buAutoNum type="arabicPeriod"/>
            </a:pPr>
            <a:endParaRPr lang="en-GB" sz="5400" dirty="0"/>
          </a:p>
          <a:p>
            <a:pPr marL="914400" indent="-914400">
              <a:buFont typeface="+mj-lt"/>
              <a:buAutoNum type="arabicPeriod"/>
            </a:pPr>
            <a:endParaRPr lang="en-GB" sz="54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618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81E20A-6B1D-4510-829F-7A9501A5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b="1" dirty="0"/>
              <a:t>Academic Self-Regulation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C6F9A3-D887-41AA-8709-CD5A23E8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5400" dirty="0"/>
              <a:t>“</a:t>
            </a:r>
            <a:r>
              <a:rPr lang="en-GB" sz="4000" dirty="0"/>
              <a:t>Academic self-regulation is the ability to manage your own learning processes by setting goals, monitoring progress, staying motivated, and adjusting strategies to achieve academic success. It involves planning, self-monitoring, and reflecting on your performance to enhance your learning outcomes.</a:t>
            </a:r>
            <a:r>
              <a:rPr lang="en-GB" sz="5400" dirty="0"/>
              <a:t>”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631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81E20A-6B1D-4510-829F-7A9501A5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03498"/>
            <a:ext cx="11035553" cy="1325563"/>
          </a:xfrm>
        </p:spPr>
        <p:txBody>
          <a:bodyPr>
            <a:noAutofit/>
          </a:bodyPr>
          <a:lstStyle/>
          <a:p>
            <a:r>
              <a:rPr lang="en-GB" sz="5400" b="1" dirty="0"/>
              <a:t>ASR Factors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7F25B7-B858-4C1A-BA39-BA05DC43F7B3}"/>
              </a:ext>
            </a:extLst>
          </p:cNvPr>
          <p:cNvSpPr/>
          <p:nvPr/>
        </p:nvSpPr>
        <p:spPr>
          <a:xfrm>
            <a:off x="1204783" y="1481794"/>
            <a:ext cx="2952666" cy="1325564"/>
          </a:xfrm>
          <a:prstGeom prst="roundRect">
            <a:avLst/>
          </a:prstGeom>
          <a:solidFill>
            <a:srgbClr val="001532"/>
          </a:solidFill>
          <a:ln>
            <a:solidFill>
              <a:srgbClr val="265D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Strategies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99588E-3CB8-402E-9D39-0DF648C6C5F6}"/>
              </a:ext>
            </a:extLst>
          </p:cNvPr>
          <p:cNvSpPr/>
          <p:nvPr/>
        </p:nvSpPr>
        <p:spPr>
          <a:xfrm>
            <a:off x="1204783" y="3277799"/>
            <a:ext cx="2952666" cy="1325564"/>
          </a:xfrm>
          <a:prstGeom prst="roundRect">
            <a:avLst/>
          </a:prstGeom>
          <a:solidFill>
            <a:srgbClr val="265D93"/>
          </a:solidFill>
          <a:ln>
            <a:solidFill>
              <a:srgbClr val="265D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Seeking Help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5D5393-C1AB-413A-A56C-34CD34E23196}"/>
              </a:ext>
            </a:extLst>
          </p:cNvPr>
          <p:cNvSpPr/>
          <p:nvPr/>
        </p:nvSpPr>
        <p:spPr>
          <a:xfrm>
            <a:off x="4524033" y="1452036"/>
            <a:ext cx="2952666" cy="1325564"/>
          </a:xfrm>
          <a:prstGeom prst="roundRect">
            <a:avLst/>
          </a:prstGeom>
          <a:solidFill>
            <a:srgbClr val="599795"/>
          </a:solidFill>
          <a:ln>
            <a:solidFill>
              <a:srgbClr val="265D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 Setting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7B4019-FC18-4111-A225-D641CB70D0BE}"/>
              </a:ext>
            </a:extLst>
          </p:cNvPr>
          <p:cNvSpPr/>
          <p:nvPr/>
        </p:nvSpPr>
        <p:spPr>
          <a:xfrm>
            <a:off x="4524033" y="3239698"/>
            <a:ext cx="2952666" cy="1325564"/>
          </a:xfrm>
          <a:prstGeom prst="roundRect">
            <a:avLst/>
          </a:prstGeom>
          <a:solidFill>
            <a:srgbClr val="8CB65D"/>
          </a:solidFill>
          <a:ln>
            <a:solidFill>
              <a:srgbClr val="265D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Environmental Regulation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BCFA70-5ABB-4399-B445-16D18530CBF1}"/>
              </a:ext>
            </a:extLst>
          </p:cNvPr>
          <p:cNvSpPr/>
          <p:nvPr/>
        </p:nvSpPr>
        <p:spPr>
          <a:xfrm>
            <a:off x="7843283" y="1452036"/>
            <a:ext cx="2952666" cy="1325564"/>
          </a:xfrm>
          <a:prstGeom prst="roundRect">
            <a:avLst/>
          </a:prstGeom>
          <a:solidFill>
            <a:srgbClr val="C34E56"/>
          </a:solidFill>
          <a:ln>
            <a:solidFill>
              <a:srgbClr val="265D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Self-Evaluation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C8F152-AB54-432C-8542-BF4C2A3EC153}"/>
              </a:ext>
            </a:extLst>
          </p:cNvPr>
          <p:cNvSpPr/>
          <p:nvPr/>
        </p:nvSpPr>
        <p:spPr>
          <a:xfrm>
            <a:off x="7843283" y="3254580"/>
            <a:ext cx="2952666" cy="1325564"/>
          </a:xfrm>
          <a:prstGeom prst="roundRect">
            <a:avLst/>
          </a:prstGeom>
          <a:solidFill>
            <a:srgbClr val="D8E301"/>
          </a:solidFill>
          <a:ln>
            <a:solidFill>
              <a:srgbClr val="265D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Responsibility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C83C1C-A857-2E7D-4AED-E9B761B389DE}"/>
              </a:ext>
            </a:extLst>
          </p:cNvPr>
          <p:cNvSpPr/>
          <p:nvPr/>
        </p:nvSpPr>
        <p:spPr>
          <a:xfrm>
            <a:off x="4524033" y="4872658"/>
            <a:ext cx="2952666" cy="1325564"/>
          </a:xfrm>
          <a:prstGeom prst="roundRect">
            <a:avLst/>
          </a:prstGeom>
          <a:solidFill>
            <a:srgbClr val="001532"/>
          </a:solidFill>
          <a:ln>
            <a:solidFill>
              <a:srgbClr val="265D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Organising</a:t>
            </a:r>
          </a:p>
        </p:txBody>
      </p:sp>
    </p:spTree>
    <p:extLst>
      <p:ext uri="{BB962C8B-B14F-4D97-AF65-F5344CB8AC3E}">
        <p14:creationId xmlns:p14="http://schemas.microsoft.com/office/powerpoint/2010/main" val="1927338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81E20A-6B1D-4510-829F-7A9501A5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5553" cy="1325563"/>
          </a:xfrm>
        </p:spPr>
        <p:txBody>
          <a:bodyPr>
            <a:noAutofit/>
          </a:bodyPr>
          <a:lstStyle/>
          <a:p>
            <a:r>
              <a:rPr lang="en-GB" sz="5400" b="1" dirty="0"/>
              <a:t>Importance of ASR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C6F9A3-D887-41AA-8709-CD5A23E8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5213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5400" dirty="0"/>
              <a:t>Research indicates:</a:t>
            </a:r>
          </a:p>
          <a:p>
            <a:pPr>
              <a:lnSpc>
                <a:spcPct val="100000"/>
              </a:lnSpc>
            </a:pPr>
            <a:r>
              <a:rPr lang="en-GB" sz="5400" dirty="0"/>
              <a:t>Self regulated learning </a:t>
            </a:r>
            <a:r>
              <a:rPr lang="en-GB" sz="5400" dirty="0">
                <a:sym typeface="Wingdings" panose="05000000000000000000" pitchFamily="2" charset="2"/>
              </a:rPr>
              <a:t> Active involvement in your studies</a:t>
            </a:r>
            <a:endParaRPr lang="en-GB" sz="5400" dirty="0"/>
          </a:p>
          <a:p>
            <a:pPr>
              <a:lnSpc>
                <a:spcPct val="100000"/>
              </a:lnSpc>
            </a:pPr>
            <a:r>
              <a:rPr lang="en-GB" sz="5400" dirty="0"/>
              <a:t>Self-regulated learning</a:t>
            </a:r>
            <a:r>
              <a:rPr lang="en-GB" sz="5400" dirty="0">
                <a:sym typeface="Wingdings" panose="05000000000000000000" pitchFamily="2" charset="2"/>
              </a:rPr>
              <a:t> Personalised learning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5433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  <a:solidFill>
            <a:srgbClr val="C34E56"/>
          </a:solidFill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81E20A-6B1D-4510-829F-7A9501A5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5553" cy="1325563"/>
          </a:xfrm>
        </p:spPr>
        <p:txBody>
          <a:bodyPr>
            <a:noAutofit/>
          </a:bodyPr>
          <a:lstStyle/>
          <a:p>
            <a:r>
              <a:rPr lang="en-GB" sz="5400" b="1" dirty="0"/>
              <a:t>Activity 1 – ASR </a:t>
            </a:r>
            <a:r>
              <a:rPr lang="en-GB" sz="5400" b="1" dirty="0" err="1"/>
              <a:t>Mentimeter</a:t>
            </a:r>
            <a:endParaRPr lang="en-GB" sz="5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95344-816D-39C5-2B3F-A39539DFA775}"/>
              </a:ext>
            </a:extLst>
          </p:cNvPr>
          <p:cNvSpPr txBox="1"/>
          <p:nvPr/>
        </p:nvSpPr>
        <p:spPr>
          <a:xfrm>
            <a:off x="5717628" y="1996966"/>
            <a:ext cx="5508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u="sng" dirty="0">
                <a:solidFill>
                  <a:srgbClr val="0563C1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https://www.menti.com/alkfnmkeryjd</a:t>
            </a:r>
            <a:endParaRPr lang="en-GB" sz="2800" dirty="0"/>
          </a:p>
        </p:txBody>
      </p:sp>
      <p:pic>
        <p:nvPicPr>
          <p:cNvPr id="3" name="Picture 2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D541C4B-96AE-2ABC-E319-8B499F889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88" y="1584533"/>
            <a:ext cx="4398691" cy="439869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91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AEA1-A082-4E34-99B2-D439B539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624" y="2235200"/>
            <a:ext cx="11510682" cy="2387600"/>
          </a:xfrm>
        </p:spPr>
        <p:txBody>
          <a:bodyPr>
            <a:normAutofit fontScale="90000"/>
          </a:bodyPr>
          <a:lstStyle/>
          <a:p>
            <a:r>
              <a:rPr lang="en-GB" sz="8800" dirty="0"/>
              <a:t>Discussion Breakout Rooms</a:t>
            </a:r>
            <a:endParaRPr lang="en-GB" sz="8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86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81E20A-6B1D-4510-829F-7A9501A5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5553" cy="1325563"/>
          </a:xfrm>
        </p:spPr>
        <p:txBody>
          <a:bodyPr>
            <a:noAutofit/>
          </a:bodyPr>
          <a:lstStyle/>
          <a:p>
            <a:r>
              <a:rPr lang="en-GB" sz="5400" b="1" dirty="0"/>
              <a:t>Activity 2 (b) –Time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2E0C8-3D8B-A486-A104-9F44C5F961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588" y="1472361"/>
            <a:ext cx="11924867" cy="460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Study for an in-class test on Friday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Plan an essay due in three weeks time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Attend classes or lectures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Exercise or go to the gym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Respond to emails/messages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Spend time with family/friends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Grocery shopping and meal prep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Household chores (laundry, cleaning, etc.)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 a book or complete assigned course readings to prepare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Engage in a hobby (e.g., drawing, playing an instrument) </a:t>
            </a:r>
          </a:p>
        </p:txBody>
      </p:sp>
    </p:spTree>
    <p:extLst>
      <p:ext uri="{BB962C8B-B14F-4D97-AF65-F5344CB8AC3E}">
        <p14:creationId xmlns:p14="http://schemas.microsoft.com/office/powerpoint/2010/main" val="713675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AEA1-A082-4E34-99B2-D439B539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624" y="2235200"/>
            <a:ext cx="11510682" cy="2387600"/>
          </a:xfrm>
        </p:spPr>
        <p:txBody>
          <a:bodyPr>
            <a:normAutofit/>
          </a:bodyPr>
          <a:lstStyle/>
          <a:p>
            <a:r>
              <a:rPr lang="en-GB" sz="8800" dirty="0"/>
              <a:t>Discussion</a:t>
            </a:r>
            <a:endParaRPr lang="en-GB" sz="8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9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  <a:solidFill>
            <a:srgbClr val="C34E56"/>
          </a:solidFill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81E20A-6B1D-4510-829F-7A9501A5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5553" cy="1325563"/>
          </a:xfrm>
        </p:spPr>
        <p:txBody>
          <a:bodyPr>
            <a:noAutofit/>
          </a:bodyPr>
          <a:lstStyle/>
          <a:p>
            <a:r>
              <a:rPr lang="en-GB" sz="5400" b="1" dirty="0"/>
              <a:t>Activity 3 – ASR Questionnaire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95344-816D-39C5-2B3F-A39539DFA775}"/>
              </a:ext>
            </a:extLst>
          </p:cNvPr>
          <p:cNvSpPr txBox="1"/>
          <p:nvPr/>
        </p:nvSpPr>
        <p:spPr>
          <a:xfrm>
            <a:off x="5717628" y="1996966"/>
            <a:ext cx="56361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u="sng" kern="0" dirty="0">
                <a:solidFill>
                  <a:srgbClr val="0563C1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https://liverpoolhope.fra1.qualtrics.com/jfe/form/SV_57Jmf2RzHwyCJiC</a:t>
            </a:r>
            <a:endParaRPr lang="en-GB" sz="7200" dirty="0"/>
          </a:p>
        </p:txBody>
      </p:sp>
      <p:pic>
        <p:nvPicPr>
          <p:cNvPr id="2" name="Picture 1" descr="QR Code to link to the academic self-regulation scale. Link is provided in the text">
            <a:extLst>
              <a:ext uri="{FF2B5EF4-FFF2-40B4-BE49-F238E27FC236}">
                <a16:creationId xmlns:a16="http://schemas.microsoft.com/office/drawing/2014/main" id="{CEA8866A-1050-B6F5-122D-F789375CF0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996966"/>
            <a:ext cx="3898900" cy="38989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5293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81E20A-6B1D-4510-829F-7A9501A5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5553" cy="1325563"/>
          </a:xfrm>
        </p:spPr>
        <p:txBody>
          <a:bodyPr>
            <a:noAutofit/>
          </a:bodyPr>
          <a:lstStyle/>
          <a:p>
            <a:r>
              <a:rPr lang="en-GB" sz="5400" b="1" dirty="0"/>
              <a:t>Advantage of ASR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C6F9A3-D887-41AA-8709-CD5A23E8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5213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5400" dirty="0"/>
              <a:t>Research indicates being a self-regulated learner:</a:t>
            </a:r>
          </a:p>
          <a:p>
            <a:pPr>
              <a:lnSpc>
                <a:spcPct val="100000"/>
              </a:lnSpc>
            </a:pPr>
            <a:r>
              <a:rPr lang="en-GB" sz="5400" dirty="0"/>
              <a:t>Improves your academic outcomes</a:t>
            </a:r>
          </a:p>
          <a:p>
            <a:pPr>
              <a:lnSpc>
                <a:spcPct val="100000"/>
              </a:lnSpc>
            </a:pPr>
            <a:r>
              <a:rPr lang="en-GB" sz="5400" dirty="0">
                <a:sym typeface="Wingdings" panose="05000000000000000000" pitchFamily="2" charset="2"/>
              </a:rPr>
              <a:t>Leads to better time management</a:t>
            </a:r>
          </a:p>
          <a:p>
            <a:pPr>
              <a:lnSpc>
                <a:spcPct val="100000"/>
              </a:lnSpc>
            </a:pPr>
            <a:r>
              <a:rPr lang="en-GB" sz="5400" dirty="0">
                <a:sym typeface="Wingdings" panose="05000000000000000000" pitchFamily="2" charset="2"/>
              </a:rPr>
              <a:t>Increases motivation</a:t>
            </a:r>
          </a:p>
          <a:p>
            <a:pPr>
              <a:lnSpc>
                <a:spcPct val="100000"/>
              </a:lnSpc>
            </a:pPr>
            <a:r>
              <a:rPr lang="en-GB" sz="5400" dirty="0">
                <a:sym typeface="Wingdings" panose="05000000000000000000" pitchFamily="2" charset="2"/>
              </a:rPr>
              <a:t>Provides transferable skills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116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AEA1-A082-4E34-99B2-D439B539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624" y="2235200"/>
            <a:ext cx="11510682" cy="2387600"/>
          </a:xfrm>
        </p:spPr>
        <p:txBody>
          <a:bodyPr>
            <a:normAutofit/>
          </a:bodyPr>
          <a:lstStyle/>
          <a:p>
            <a:r>
              <a:rPr lang="en-GB" sz="8800" dirty="0"/>
              <a:t>Discussion</a:t>
            </a:r>
            <a:endParaRPr lang="en-GB" sz="8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D316C8-3288-4636-90EE-AC2CB90F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5619"/>
            <a:ext cx="12192000" cy="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80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312</Words>
  <Application>Microsoft Office PowerPoint</Application>
  <PresentationFormat>Widescreen</PresentationFormat>
  <Paragraphs>61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Tw Cen MT</vt:lpstr>
      <vt:lpstr>Wingdings</vt:lpstr>
      <vt:lpstr>Office Theme</vt:lpstr>
      <vt:lpstr>Building the Foundations of Success: Academic Self-Regulation</vt:lpstr>
      <vt:lpstr>Agenda</vt:lpstr>
      <vt:lpstr>Academic Self-Regulation</vt:lpstr>
      <vt:lpstr>ASR Factors</vt:lpstr>
      <vt:lpstr>Importance of ASR</vt:lpstr>
      <vt:lpstr>Activity 1 – ASR Mentimeter</vt:lpstr>
      <vt:lpstr>Discussion Breakout Rooms</vt:lpstr>
      <vt:lpstr>Activity 2 (b) –Time management</vt:lpstr>
      <vt:lpstr>Discussion</vt:lpstr>
      <vt:lpstr>Activity 3 – ASR Questionnaire</vt:lpstr>
      <vt:lpstr>Advantage of ASR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Motivation</dc:title>
  <dc:creator>Glen Pennington</dc:creator>
  <cp:lastModifiedBy>Glen Pennington</cp:lastModifiedBy>
  <cp:revision>25</cp:revision>
  <dcterms:created xsi:type="dcterms:W3CDTF">2024-09-02T13:40:42Z</dcterms:created>
  <dcterms:modified xsi:type="dcterms:W3CDTF">2024-09-12T11:58:58Z</dcterms:modified>
</cp:coreProperties>
</file>